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25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67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AA5DC"/>
                </a:solidFill>
                <a:latin typeface="Arial"/>
              </a:rPr>
              <a:t>RECOMMENDATION FOR CMO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Unlocking Insightful for AT&amp;T’s AI Ecosystem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BCC9D6"/>
                </a:solidFill>
                <a:latin typeface="Arial"/>
              </a:rPr>
              <a:t>Meet rising demand for agent-ready knowledge — with governance,
without workarounds, without losing what Stravito already perfected.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120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CC9D6"/>
                </a:solidFill>
                <a:latin typeface="Arial"/>
              </a:rPr>
              <a:t>Marketing Knowledge Management  | 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67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C2577"/>
                </a:solidFill>
                <a:latin typeface="Arial"/>
              </a:rPr>
              <a:t>The 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000000"/>
                </a:solidFill>
                <a:latin typeface="Arial"/>
              </a:rPr>
              <a:t>Approve a dual-track approach to Insightful AI access.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5303520" cy="3474720"/>
          </a:xfrm>
          <a:prstGeom prst="roundRect">
            <a:avLst>
              <a:gd name="adj" fmla="val 5000"/>
            </a:avLst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0574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7200"/>
                </a:solidFill>
                <a:latin typeface="Arial"/>
              </a:rPr>
              <a:t>PRIMARY — NOW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468880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C2577"/>
                </a:solidFill>
                <a:latin typeface="Arial"/>
              </a:rPr>
              <a:t>Sign on for MCP (preferred) and API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29184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5A5A5A"/>
                </a:solidFill>
                <a:latin typeface="Arial"/>
              </a:rPr>
              <a:t>Gives teams building agents and AI-backed tools a governed way to pull Insightful knowledge into their work.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5A5A5A"/>
                </a:solidFill>
                <a:latin typeface="Arial"/>
              </a:rPr>
              <a:t>Solves immediate demand and reduces shadow integrations.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828800"/>
            <a:ext cx="5303520" cy="3474720"/>
          </a:xfrm>
          <a:prstGeom prst="roundRect">
            <a:avLst>
              <a:gd name="adj" fmla="val 5000"/>
            </a:avLst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20574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67AB4"/>
                </a:solidFill>
                <a:latin typeface="Arial"/>
              </a:rPr>
              <a:t>STRATEGIC — PARALLEL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468880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C2577"/>
                </a:solidFill>
                <a:latin typeface="Arial"/>
              </a:rPr>
              <a:t>Advance Ask AT&amp;T knowledge domain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29184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5A5A5A"/>
                </a:solidFill>
                <a:latin typeface="Arial"/>
              </a:rPr>
              <a:t>Corpus copy + metadata already uploaded for security. Next: golden questions, truth answers, governance, stewards.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5A5A5A"/>
                </a:solidFill>
                <a:latin typeface="Arial"/>
              </a:rPr>
              <a:t>Treat as a side goal we invest in — not the near-term demand fix.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5A5A"/>
                </a:solidFill>
                <a:latin typeface="Arial"/>
              </a:rPr>
              <a:t>AT&amp;T Marketing | Insightful AI Access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67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C2577"/>
                </a:solidFill>
                <a:latin typeface="Arial"/>
              </a:rPr>
              <a:t>Why this matters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5A5A5A"/>
                </a:solidFill>
                <a:latin typeface="Arial"/>
              </a:rPr>
              <a:t>AI curiosity is growing. So is interest in Insightful’s knowledge base.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3611880" cy="3840480"/>
          </a:xfrm>
          <a:prstGeom prst="roundRect">
            <a:avLst>
              <a:gd name="adj" fmla="val 5000"/>
            </a:avLst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67AB4"/>
                </a:solidFill>
                <a:latin typeface="Arial"/>
              </a:rPr>
              <a:t>DEMAND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377440"/>
            <a:ext cx="3154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C2577"/>
                </a:solidFill>
                <a:latin typeface="Arial"/>
              </a:rPr>
              <a:t>People want Insightful inside their AI projects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474720"/>
            <a:ext cx="3154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5A5A"/>
                </a:solidFill>
                <a:latin typeface="Arial"/>
              </a:rPr>
              <a:t>Teams building agents and AI tools need a sanctioned path to insert curated insights into product experiences.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737360"/>
            <a:ext cx="3611880" cy="3840480"/>
          </a:xfrm>
          <a:prstGeom prst="roundRect">
            <a:avLst>
              <a:gd name="adj" fmla="val 5000"/>
            </a:avLst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96596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67AB4"/>
                </a:solidFill>
                <a:latin typeface="Arial"/>
              </a:rPr>
              <a:t>GOVERNANCE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377440"/>
            <a:ext cx="3154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C2577"/>
                </a:solidFill>
                <a:latin typeface="Arial"/>
              </a:rPr>
              <a:t>If access lags, workarounds appear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3474720"/>
            <a:ext cx="3154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5A5A"/>
                </a:solidFill>
                <a:latin typeface="Arial"/>
              </a:rPr>
              <a:t>Unauthorized copies, one-off scrapes, and local RAG experiments create security, quality, and brand risk.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737360"/>
            <a:ext cx="3611880" cy="3840480"/>
          </a:xfrm>
          <a:prstGeom prst="roundRect">
            <a:avLst>
              <a:gd name="adj" fmla="val 5000"/>
            </a:avLst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6760" y="196596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67AB4"/>
                </a:solidFill>
                <a:latin typeface="Arial"/>
              </a:rPr>
              <a:t>PROPRIETARY LENS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2377440"/>
            <a:ext cx="3154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C2577"/>
                </a:solidFill>
                <a:latin typeface="Arial"/>
              </a:rPr>
              <a:t>Stravito is not just a document store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474720"/>
            <a:ext cx="3154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5A5A"/>
                </a:solidFill>
                <a:latin typeface="Arial"/>
              </a:rPr>
              <a:t>Chosen because it democratizes knowledge socially — semantic layer, AT&amp;T taxonomy, marketing-research AI, curated collections.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5A5A"/>
                </a:solidFill>
                <a:latin typeface="Arial"/>
              </a:rPr>
              <a:t>AT&amp;T Marketing | Insightful AI Access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67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C2577"/>
                </a:solidFill>
                <a:latin typeface="Arial"/>
              </a:rPr>
              <a:t>What we would lose if we treat Insightful as “just docs”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109728" cy="914400"/>
          </a:xfrm>
          <a:prstGeom prst="rect">
            <a:avLst/>
          </a:prstGeom>
          <a:solidFill>
            <a:srgbClr val="FF7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0972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C2577"/>
                </a:solidFill>
                <a:latin typeface="Arial"/>
              </a:rPr>
              <a:t>Semantic + taxonomy fluency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4630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A5A5A"/>
                </a:solidFill>
                <a:latin typeface="Arial"/>
              </a:rPr>
              <a:t>Understands AT&amp;T terms, categories, and how marketers actually search and speak.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240280"/>
            <a:ext cx="109728" cy="914400"/>
          </a:xfrm>
          <a:prstGeom prst="rect">
            <a:avLst/>
          </a:prstGeom>
          <a:solidFill>
            <a:srgbClr val="067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2402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C2577"/>
                </a:solidFill>
                <a:latin typeface="Arial"/>
              </a:rPr>
              <a:t>Marketing-research AI posture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6060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A5A5A"/>
                </a:solidFill>
                <a:latin typeface="Arial"/>
              </a:rPr>
              <a:t>Assistant approaches questions like an insights professional — not a generic chatbot.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383280"/>
            <a:ext cx="109728" cy="914400"/>
          </a:xfrm>
          <a:prstGeom prst="rect">
            <a:avLst/>
          </a:prstGeom>
          <a:solidFill>
            <a:srgbClr val="067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3832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C2577"/>
                </a:solidFill>
                <a:latin typeface="Arial"/>
              </a:rPr>
              <a:t>Curated collections as assets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490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A5A5A"/>
                </a:solidFill>
                <a:latin typeface="Arial"/>
              </a:rPr>
              <a:t>Team-built collections across the org are knowledge products in themselves.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526280"/>
            <a:ext cx="109728" cy="914400"/>
          </a:xfrm>
          <a:prstGeom prst="rect">
            <a:avLst/>
          </a:prstGeom>
          <a:solidFill>
            <a:srgbClr val="067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5262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C2577"/>
                </a:solidFill>
                <a:latin typeface="Arial"/>
              </a:rPr>
              <a:t>Social democratization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8920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A5A5A"/>
                </a:solidFill>
                <a:latin typeface="Arial"/>
              </a:rPr>
              <a:t>Easy, trusted discovery that made the platform the system of engagement.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5A5A"/>
                </a:solidFill>
                <a:latin typeface="Arial"/>
              </a:rPr>
              <a:t>AT&amp;T Marketing | Insightful AI Access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67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C2577"/>
                </a:solidFill>
                <a:latin typeface="Arial"/>
              </a:rPr>
              <a:t>Three paths to Insightful in the AI ecosystem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097280"/>
            <a:ext cx="11064240" cy="1463040"/>
          </a:xfrm>
          <a:prstGeom prst="roundRect">
            <a:avLst>
              <a:gd name="adj" fmla="val 5000"/>
            </a:avLst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258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C2577"/>
                </a:solidFill>
                <a:latin typeface="Arial"/>
              </a:rPr>
              <a:t>01  MCP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1371600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67AB4"/>
                </a:solidFill>
                <a:latin typeface="Arial"/>
              </a:rPr>
              <a:t>Model Context Protocol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1737360"/>
            <a:ext cx="7132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A5A5A"/>
                </a:solidFill>
                <a:latin typeface="Arial"/>
              </a:rPr>
              <a:t>Standard tool interface so agents can search and retrieve Insightful live, with controlled actions.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743200"/>
            <a:ext cx="11064240" cy="1463040"/>
          </a:xfrm>
          <a:prstGeom prst="roundRect">
            <a:avLst>
              <a:gd name="adj" fmla="val 5000"/>
            </a:avLst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9718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C2577"/>
                </a:solidFill>
                <a:latin typeface="Arial"/>
              </a:rPr>
              <a:t>02  API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3017520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67AB4"/>
                </a:solidFill>
                <a:latin typeface="Arial"/>
              </a:rPr>
              <a:t>Application programming interface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3383280"/>
            <a:ext cx="7132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A5A5A"/>
                </a:solidFill>
                <a:latin typeface="Arial"/>
              </a:rPr>
              <a:t>Direct Search / Lookup connections for apps and backends that need Insightful inside custom AI tools.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389120"/>
            <a:ext cx="11064240" cy="1463040"/>
          </a:xfrm>
          <a:prstGeom prst="roundRect">
            <a:avLst>
              <a:gd name="adj" fmla="val 5000"/>
            </a:avLst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6177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C2577"/>
                </a:solidFill>
                <a:latin typeface="Arial"/>
              </a:rPr>
              <a:t>03  Knowledge domain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4663440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67AB4"/>
                </a:solidFill>
                <a:latin typeface="Arial"/>
              </a:rPr>
              <a:t>Ask AT&amp;T / Ask Docs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5029200"/>
            <a:ext cx="7132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A5A5A"/>
                </a:solidFill>
                <a:latin typeface="Arial"/>
              </a:rPr>
              <a:t>Q&amp;A against a secured copy of Insightful content + metadata already loaded for data security.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5A5A"/>
                </a:solidFill>
                <a:latin typeface="Arial"/>
              </a:rPr>
              <a:t>AT&amp;T Marketing | Insightful AI Access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67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C2577"/>
                </a:solidFill>
                <a:latin typeface="Arial"/>
              </a:rPr>
              <a:t>Option 1 — MCP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5A5A"/>
                </a:solidFill>
                <a:latin typeface="Arial"/>
              </a:rPr>
              <a:t>Best fit for groups building agents and AI-backed tools.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5394960" cy="4389120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6EBB1F"/>
                </a:solidFill>
                <a:latin typeface="Arial"/>
              </a:rPr>
              <a:t>Pros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48463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Agent-native: tools discover and call Insightful in agent frameworks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Live source — less drift than a copied corpus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Permissions and actions can ride with the connecting identity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Scales across many AI projects with one integration pattern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Aligns with where enterprise AI platforms are standardizing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394960" cy="4389120"/>
          </a:xfrm>
          <a:prstGeom prst="roundRect">
            <a:avLst>
              <a:gd name="adj" fmla="val 5000"/>
            </a:avLst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6002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7200"/>
                </a:solidFill>
                <a:latin typeface="Arial"/>
              </a:rPr>
              <a:t>Cons / watch-outs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103120"/>
            <a:ext cx="48463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Requires vendor enablement and AT&amp;T security review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Not every internal tool supports MCP yet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Needs clear tool scopes (search vs. retrieve vs. write)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Operational ownership: who approves agent clients?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Still depends on Stravito platform availability/SLA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5A5A"/>
                </a:solidFill>
                <a:latin typeface="Arial"/>
              </a:rPr>
              <a:t>AT&amp;T Marketing | Insightful AI Access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67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C2577"/>
                </a:solidFill>
                <a:latin typeface="Arial"/>
              </a:rPr>
              <a:t>Option 2 —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5A5A"/>
                </a:solidFill>
                <a:latin typeface="Arial"/>
              </a:rPr>
              <a:t>Strong companion path for custom apps and non-MCP surfaces.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5394960" cy="4389120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6EBB1F"/>
                </a:solidFill>
                <a:latin typeface="Arial"/>
              </a:rPr>
              <a:t>Pros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48463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Proven enterprise pattern (Search, Lookup, usage logs)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Fits backends, intranet widgets, and bespoke AI apps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Live Insightful content and metadata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Easier for teams already shipping REST integrations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Complements MCP where MCP is not available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394960" cy="4389120"/>
          </a:xfrm>
          <a:prstGeom prst="roundRect">
            <a:avLst>
              <a:gd name="adj" fmla="val 5000"/>
            </a:avLst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6002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7200"/>
                </a:solidFill>
                <a:latin typeface="Arial"/>
              </a:rPr>
              <a:t>Cons / watch-outs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103120"/>
            <a:ext cx="48463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Each product team reinvents orchestration unless we provide a shared pattern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More engineering lift per project than MCP for agent builders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Rate limits, auth, and client sprawl need central guardrails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Does not by itself teach agents “when” to call Insightful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Still platform-dependent on Stravito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5A5A"/>
                </a:solidFill>
                <a:latin typeface="Arial"/>
              </a:rPr>
              <a:t>AT&amp;T Marketing | Insightful AI Access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67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C2577"/>
                </a:solidFill>
                <a:latin typeface="Arial"/>
              </a:rPr>
              <a:t>Option 3 — Knowledge domain (Ask AT&amp;T)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5A5A"/>
                </a:solidFill>
                <a:latin typeface="Arial"/>
              </a:rPr>
              <a:t>Secured copy is uploaded. We are at golden-question setup — not yet production-ready.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5394960" cy="4389120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6EBB1F"/>
                </a:solidFill>
                <a:latin typeface="Arial"/>
              </a:rPr>
              <a:t>Pros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48463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Meets data-security ask: copy of content + metadata inside AT&amp;T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Natural fit for Ask AT&amp;T / Ask Docs employee experience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Long-term option to broaden reach beyond Stravito UI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Can become strategic internal Q&amp;A surface for marketing knowledge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394960" cy="4389120"/>
          </a:xfrm>
          <a:prstGeom prst="roundRect">
            <a:avLst>
              <a:gd name="adj" fmla="val 5000"/>
            </a:avLst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6002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7200"/>
                </a:solidFill>
                <a:latin typeface="Arial"/>
              </a:rPr>
              <a:t>Cons / watch-outs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103120"/>
            <a:ext cx="48463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Answers a copy — freshness and sync are ongoing work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Does not yet replace Stravito’s social UX, collections, or research-tuned assistant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Quality depends on golden questions, truth answers, and testing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Needs governance, stewards, and sustained support — not a one-time upload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• Wrong primary fix for teams shipping agents this quarter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5A5A"/>
                </a:solidFill>
                <a:latin typeface="Arial"/>
              </a:rPr>
              <a:t>AT&amp;T Marketing | Insightful AI Access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67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C2577"/>
                </a:solidFill>
                <a:latin typeface="Arial"/>
              </a:rPr>
              <a:t>Recommendation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051560"/>
            <a:ext cx="11064240" cy="1463040"/>
          </a:xfrm>
          <a:prstGeom prst="roundRect">
            <a:avLst>
              <a:gd name="adj" fmla="val 5000"/>
            </a:avLst>
          </a:prstGeom>
          <a:solidFill>
            <a:srgbClr val="0C25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280160"/>
            <a:ext cx="10424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Sign on for MCP as the primary path for agent builders; enable API alongside it for custom AI tools. Advance the Ask AT&amp;T knowledge domain as a strategic side investment — not the near-term demand solution.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10972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>
                <a:solidFill>
                  <a:srgbClr val="5A5A5A"/>
                </a:solidFill>
                <a:latin typeface="Arial"/>
              </a:rPr>
              <a:t>Why MCP first for agents: it is the cleanest way for AI tools to call Insightful as a governed capability — search, retrieve, cite — without each team inventing a private pipeline.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5A5A5A"/>
                </a:solidFill>
                <a:latin typeface="Arial"/>
              </a:rPr>
              <a:t>Why API with it: many AT&amp;T apps will not speak MCP yet; Search/Lookup covers those surfaces with the same live knowledge.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5A5A5A"/>
                </a:solidFill>
                <a:latin typeface="Arial"/>
              </a:rPr>
              <a:t>Why domain stays strategic: security already drove a full copy into Ask Docs. That investment is real — and unfinished. Completing it requires golden questions, stewards, and operating cadence before it can rival Insightful’s curated experience.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5A5A"/>
                </a:solidFill>
                <a:latin typeface="Arial"/>
              </a:rPr>
              <a:t>AT&amp;T Marketing | Insightful AI Access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67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C2577"/>
                </a:solidFill>
                <a:latin typeface="Arial"/>
              </a:rPr>
              <a:t>Knowledge domain — where we are: golden 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A5A5A"/>
                </a:solidFill>
                <a:latin typeface="Arial"/>
              </a:rPr>
              <a:t>This is the quality gate before Ask AT&amp;T should be trusted with Insightful answers.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80160"/>
            <a:ext cx="3611880" cy="2057400"/>
          </a:xfrm>
          <a:prstGeom prst="roundRect">
            <a:avLst>
              <a:gd name="adj" fmla="val 5000"/>
            </a:avLst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087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7AB4"/>
                </a:solidFill>
                <a:latin typeface="Arial"/>
              </a:rPr>
              <a:t>1. Design the 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65960"/>
            <a:ext cx="3200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Arial"/>
              </a:rPr>
              <a:t>50–150 questions spanning priority brands, categories, regions, taxonomy terms, and hard negatives.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280160"/>
            <a:ext cx="3611880" cy="2057400"/>
          </a:xfrm>
          <a:prstGeom prst="roundRect">
            <a:avLst>
              <a:gd name="adj" fmla="val 5000"/>
            </a:avLst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15087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7AB4"/>
                </a:solidFill>
                <a:latin typeface="Arial"/>
              </a:rPr>
              <a:t>2. Write truth answers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1965960"/>
            <a:ext cx="3200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Arial"/>
              </a:rPr>
              <a:t>SME / steward authors expected answers with citations to source docs and metadata.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280160"/>
            <a:ext cx="3611880" cy="2057400"/>
          </a:xfrm>
          <a:prstGeom prst="roundRect">
            <a:avLst>
              <a:gd name="adj" fmla="val 5000"/>
            </a:avLst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5087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7AB4"/>
                </a:solidFill>
                <a:latin typeface="Arial"/>
              </a:rPr>
              <a:t>3. Run &amp; score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1965960"/>
            <a:ext cx="3200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Arial"/>
              </a:rPr>
              <a:t>Ask Docs answers each golden question; score correctness, completeness, citation quality, refusal behavior.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566160"/>
            <a:ext cx="3611880" cy="2057400"/>
          </a:xfrm>
          <a:prstGeom prst="roundRect">
            <a:avLst>
              <a:gd name="adj" fmla="val 5000"/>
            </a:avLst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7947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7AB4"/>
                </a:solidFill>
                <a:latin typeface="Arial"/>
              </a:rPr>
              <a:t>4. Tune &amp; retest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251960"/>
            <a:ext cx="3200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Arial"/>
              </a:rPr>
              <a:t>Fix retrieval, metadata, chunking, prompts; re-run until threshold met.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3566160"/>
            <a:ext cx="3611880" cy="2057400"/>
          </a:xfrm>
          <a:prstGeom prst="roundRect">
            <a:avLst>
              <a:gd name="adj" fmla="val 5000"/>
            </a:avLst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6280" y="37947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7AB4"/>
                </a:solidFill>
                <a:latin typeface="Arial"/>
              </a:rPr>
              <a:t>5. Gate go-live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4251960"/>
            <a:ext cx="3200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Arial"/>
              </a:rPr>
              <a:t>Publish only when quality bar + access policy + support model are signed.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38160" y="3566160"/>
            <a:ext cx="3611880" cy="2057400"/>
          </a:xfrm>
          <a:prstGeom prst="roundRect">
            <a:avLst>
              <a:gd name="adj" fmla="val 5000"/>
            </a:avLst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37947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7AB4"/>
                </a:solidFill>
                <a:latin typeface="Arial"/>
              </a:rPr>
              <a:t>6. Regression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4251960"/>
            <a:ext cx="3200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Arial"/>
              </a:rPr>
              <a:t>Re-run golden set when corpus syncs or models change.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5A5A"/>
                </a:solidFill>
                <a:latin typeface="Arial"/>
              </a:rPr>
              <a:t>AT&amp;T Marketing | Insightful AI Access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67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C2577"/>
                </a:solidFill>
                <a:latin typeface="Arial"/>
              </a:rPr>
              <a:t>Strategic investment: what the knowledge domain needs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05840"/>
            <a:ext cx="2788920" cy="2377440"/>
          </a:xfrm>
          <a:prstGeom prst="roundRect">
            <a:avLst>
              <a:gd name="adj" fmla="val 5000"/>
            </a:avLst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8872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C2577"/>
                </a:solidFill>
                <a:latin typeface="Arial"/>
              </a:rPr>
              <a:t>Golden Q&amp;A pack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783080"/>
            <a:ext cx="2514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A5A5A"/>
                </a:solidFill>
                <a:latin typeface="Arial"/>
              </a:rPr>
              <a:t>Question bank + truth answers owned by insights SMEs; versioned like a product artifact.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005840"/>
            <a:ext cx="2788920" cy="2377440"/>
          </a:xfrm>
          <a:prstGeom prst="roundRect">
            <a:avLst>
              <a:gd name="adj" fmla="val 5000"/>
            </a:avLst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20440" y="118872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C2577"/>
                </a:solidFill>
                <a:latin typeface="Arial"/>
              </a:rPr>
              <a:t>Governance &amp; access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1783080"/>
            <a:ext cx="2514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A5A5A"/>
                </a:solidFill>
                <a:latin typeface="Arial"/>
              </a:rPr>
              <a:t>Who may query, who may publish, DLP/classification, audit of Ask AT&amp;T usage.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005840"/>
            <a:ext cx="2788920" cy="2377440"/>
          </a:xfrm>
          <a:prstGeom prst="roundRect">
            <a:avLst>
              <a:gd name="adj" fmla="val 5000"/>
            </a:avLst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18872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C2577"/>
                </a:solidFill>
                <a:latin typeface="Arial"/>
              </a:rPr>
              <a:t>Knowledge steward role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1783080"/>
            <a:ext cx="2514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A5A5A"/>
                </a:solidFill>
                <a:latin typeface="Arial"/>
              </a:rPr>
              <a:t>Named owner for corpus health, sync exceptions, answer quality, and escalation.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35440" y="1005840"/>
            <a:ext cx="2788920" cy="2377440"/>
          </a:xfrm>
          <a:prstGeom prst="roundRect">
            <a:avLst>
              <a:gd name="adj" fmla="val 5000"/>
            </a:avLst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118872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C2577"/>
                </a:solidFill>
                <a:latin typeface="Arial"/>
              </a:rPr>
              <a:t>Sync &amp; freshness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72600" y="1783080"/>
            <a:ext cx="2514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A5A5A"/>
                </a:solidFill>
                <a:latin typeface="Arial"/>
              </a:rPr>
              <a:t>Cadence from Insightful → domain copy; metadata parity; stale-content playbook.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611880"/>
            <a:ext cx="2788920" cy="2377440"/>
          </a:xfrm>
          <a:prstGeom prst="roundRect">
            <a:avLst>
              <a:gd name="adj" fmla="val 5000"/>
            </a:avLst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379476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C2577"/>
                </a:solidFill>
                <a:latin typeface="Arial"/>
              </a:rPr>
              <a:t>Testing &amp; release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389120"/>
            <a:ext cx="2514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A5A5A"/>
                </a:solidFill>
                <a:latin typeface="Arial"/>
              </a:rPr>
              <a:t>Pre-release golden-set scorecard; change management when models or chunking change.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83280" y="3611880"/>
            <a:ext cx="2788920" cy="2377440"/>
          </a:xfrm>
          <a:prstGeom prst="roundRect">
            <a:avLst>
              <a:gd name="adj" fmla="val 5000"/>
            </a:avLst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20440" y="379476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C2577"/>
                </a:solidFill>
                <a:latin typeface="Arial"/>
              </a:rPr>
              <a:t>Ongoing support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4389120"/>
            <a:ext cx="2514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A5A5A"/>
                </a:solidFill>
                <a:latin typeface="Arial"/>
              </a:rPr>
              <a:t>Tier-1 user help, steward office hours, feedback loop into collections and tagging.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3611880"/>
            <a:ext cx="2788920" cy="2377440"/>
          </a:xfrm>
          <a:prstGeom prst="roundRect">
            <a:avLst>
              <a:gd name="adj" fmla="val 5000"/>
            </a:avLst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379476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C2577"/>
                </a:solidFill>
                <a:latin typeface="Arial"/>
              </a:rPr>
              <a:t>Success metrics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4389120"/>
            <a:ext cx="2514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A5A5A"/>
                </a:solidFill>
                <a:latin typeface="Arial"/>
              </a:rPr>
              <a:t>Answer quality %, citation hit rate, time-to-insight, deflection from workarounds.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235440" y="3611880"/>
            <a:ext cx="2788920" cy="2377440"/>
          </a:xfrm>
          <a:prstGeom prst="roundRect">
            <a:avLst>
              <a:gd name="adj" fmla="val 5000"/>
            </a:avLst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72600" y="379476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C2577"/>
                </a:solidFill>
                <a:latin typeface="Arial"/>
              </a:rPr>
              <a:t>Risk controls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72600" y="4389120"/>
            <a:ext cx="2514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A5A5A"/>
                </a:solidFill>
                <a:latin typeface="Arial"/>
              </a:rPr>
              <a:t>Wrong-answer escalation, “I don’t know” policy, sensitive-topic handling.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5A5A"/>
                </a:solidFill>
                <a:latin typeface="Arial"/>
              </a:rPr>
              <a:t>AT&amp;T Marketing | Insightful AI Access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67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C2577"/>
                </a:solidFill>
                <a:latin typeface="Arial"/>
              </a:rPr>
              <a:t>Human impact — roles, hours, support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229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Arial"/>
              </a:rPr>
              <a:t>Indicative planning ranges for CMO discussion (calibrate with HR / insights capacity).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67AB4"/>
                </a:solidFill>
                <a:latin typeface="Arial"/>
              </a:rPr>
              <a:t>Role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123444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67AB4"/>
                </a:solidFill>
                <a:latin typeface="Arial"/>
              </a:rPr>
              <a:t>Mode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12344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67AB4"/>
                </a:solidFill>
                <a:latin typeface="Arial"/>
              </a:rPr>
              <a:t>Effort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123444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67AB4"/>
                </a:solidFill>
                <a:latin typeface="Arial"/>
              </a:rPr>
              <a:t>Responsibility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11247120" cy="7772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64592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Arial"/>
              </a:rPr>
              <a:t>Knowledge Steward (lead)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164592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Arial"/>
              </a:rPr>
              <a:t>Standing role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164592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Arial"/>
              </a:rPr>
              <a:t>0.4–0.6 FTE ongoing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1645920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Arial"/>
              </a:rPr>
              <a:t>Corpus quality, golden set, access requests, sync exceptions, SME coordination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4688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Arial"/>
              </a:rPr>
              <a:t>Insights SMEs (panel)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246888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Arial"/>
              </a:rPr>
              <a:t>Rotating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246888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Arial"/>
              </a:rPr>
              <a:t>~40–80 hrs stand-up; 4–8 hrs/mo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2468880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Arial"/>
              </a:rPr>
              <a:t>Truth answers, taxonomy edge cases, approve go-live scorecard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200400"/>
            <a:ext cx="11247120" cy="7772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29184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Arial"/>
              </a:rPr>
              <a:t>KM / platform ops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329184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Arial"/>
              </a:rPr>
              <a:t>Shared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0" y="329184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Arial"/>
              </a:rPr>
              <a:t>~20–40 hrs stand-up; 2–4 hrs/wk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3291840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Arial"/>
              </a:rPr>
              <a:t>Sync jobs, metadata, Ask AT&amp;T config, release testing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11480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Arial"/>
              </a:rPr>
              <a:t>Security / compliance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08960" y="411480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Arial"/>
              </a:rPr>
              <a:t>Checkpoint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0" y="411480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Arial"/>
              </a:rPr>
              <a:t>~15–25 hrs initial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0" y="4114800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Arial"/>
              </a:rPr>
              <a:t>Access model, audit, data-class controls, exception review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846320"/>
            <a:ext cx="11247120" cy="7772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493776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Arial"/>
              </a:rPr>
              <a:t>MCP / API program owner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493776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Arial"/>
              </a:rPr>
              <a:t>Standing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49377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Arial"/>
              </a:rPr>
              <a:t>0.25–0.4 FTE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0" y="4937760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Arial"/>
              </a:rPr>
              <a:t>Vendor enablement, client onboarding, guardrails, usage reporting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5A5A"/>
                </a:solidFill>
                <a:latin typeface="Arial"/>
              </a:rPr>
              <a:t>AT&amp;T Marketing | Insightful AI Access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67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C2577"/>
                </a:solidFill>
                <a:latin typeface="Arial"/>
              </a:rPr>
              <a:t>Knowledge Steward — proposed accountability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051560"/>
            <a:ext cx="411480" cy="411480"/>
          </a:xfrm>
          <a:prstGeom prst="ellipse">
            <a:avLst/>
          </a:prstGeom>
          <a:solidFill>
            <a:srgbClr val="067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09728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97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Arial"/>
              </a:rPr>
              <a:t>Own the golden-question bank and truth-answer currency with SME panel.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1828800"/>
            <a:ext cx="411480" cy="411480"/>
          </a:xfrm>
          <a:prstGeom prst="ellipse">
            <a:avLst/>
          </a:prstGeom>
          <a:solidFill>
            <a:srgbClr val="067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87452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8745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Arial"/>
              </a:rPr>
              <a:t>Approve / deny domain access requests against CMO-endorsed policy.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2606039"/>
            <a:ext cx="411480" cy="411480"/>
          </a:xfrm>
          <a:prstGeom prst="ellipse">
            <a:avLst/>
          </a:prstGeom>
          <a:solidFill>
            <a:srgbClr val="067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2651759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2651759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Arial"/>
              </a:rPr>
              <a:t>Monitor answer quality metrics and escalate wrong-answer incidents.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3383279"/>
            <a:ext cx="411480" cy="411480"/>
          </a:xfrm>
          <a:prstGeom prst="ellipse">
            <a:avLst/>
          </a:prstGeom>
          <a:solidFill>
            <a:srgbClr val="067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3428999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428999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Arial"/>
              </a:rPr>
              <a:t>Coordinate Insightful → Ask Docs sync issues and metadata gaps.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4160520"/>
            <a:ext cx="411480" cy="411480"/>
          </a:xfrm>
          <a:prstGeom prst="ellipse">
            <a:avLst/>
          </a:prstGeom>
          <a:solidFill>
            <a:srgbClr val="067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420624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2062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Arial"/>
              </a:rPr>
              <a:t>Partner with MCP/API owner so agent experiences cite the same sources of truth.</a:t>
            </a:r>
          </a:p>
        </p:txBody>
      </p:sp>
      <p:sp>
        <p:nvSpPr>
          <p:cNvPr id="20" name="Oval 19"/>
          <p:cNvSpPr/>
          <p:nvPr/>
        </p:nvSpPr>
        <p:spPr>
          <a:xfrm>
            <a:off x="640080" y="4937760"/>
            <a:ext cx="411480" cy="411480"/>
          </a:xfrm>
          <a:prstGeom prst="ellipse">
            <a:avLst/>
          </a:prstGeom>
          <a:solidFill>
            <a:srgbClr val="067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498348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49834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Arial"/>
              </a:rPr>
              <a:t>Report quarterly to CMO: quality, usage, risks, and capacity needs.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5A5A"/>
                </a:solidFill>
                <a:latin typeface="Arial"/>
              </a:rPr>
              <a:t>AT&amp;T Marketing | Insightful AI Access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67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C2577"/>
                </a:solidFill>
                <a:latin typeface="Arial"/>
              </a:rPr>
              <a:t>Decision requested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005840"/>
            <a:ext cx="5486400" cy="2148840"/>
          </a:xfrm>
          <a:prstGeom prst="roundRect">
            <a:avLst>
              <a:gd name="adj" fmla="val 5000"/>
            </a:avLst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2801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7200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325880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C2577"/>
                </a:solidFill>
                <a:latin typeface="Arial"/>
              </a:rPr>
              <a:t>Approve MCP + API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920240"/>
            <a:ext cx="4937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5A5A"/>
                </a:solidFill>
                <a:latin typeface="Arial"/>
              </a:rPr>
              <a:t>Authorize commercial/security engagement to enable Insightful MCP and API for sanctioned AI projects.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59" y="1005840"/>
            <a:ext cx="5486400" cy="2148840"/>
          </a:xfrm>
          <a:prstGeom prst="roundRect">
            <a:avLst>
              <a:gd name="adj" fmla="val 5000"/>
            </a:avLst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79" y="12801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7200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19" y="1325880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C2577"/>
                </a:solidFill>
                <a:latin typeface="Arial"/>
              </a:rPr>
              <a:t>Name program owners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79" y="1920240"/>
            <a:ext cx="4937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5A5A"/>
                </a:solidFill>
                <a:latin typeface="Arial"/>
              </a:rPr>
              <a:t>Assign MCP/API owner and interim Knowledge Steward; confirm SME panel.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383280"/>
            <a:ext cx="5486400" cy="2148840"/>
          </a:xfrm>
          <a:prstGeom prst="roundRect">
            <a:avLst>
              <a:gd name="adj" fmla="val 5000"/>
            </a:avLst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6576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7200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703320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C2577"/>
                </a:solidFill>
                <a:latin typeface="Arial"/>
              </a:rPr>
              <a:t>Fund domain as side goal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297680"/>
            <a:ext cx="4937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5A5A"/>
                </a:solidFill>
                <a:latin typeface="Arial"/>
              </a:rPr>
              <a:t>Endorse golden-question stand-up and steward operating model — without blocking agent demand on domain go-live.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59" y="3383280"/>
            <a:ext cx="5486400" cy="2148840"/>
          </a:xfrm>
          <a:prstGeom prst="roundRect">
            <a:avLst>
              <a:gd name="adj" fmla="val 5000"/>
            </a:avLst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79" y="36576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7200"/>
                </a:solidFill>
                <a:latin typeface="Arial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19" y="3703320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C2577"/>
                </a:solidFill>
                <a:latin typeface="Arial"/>
              </a:rPr>
              <a:t>Set access policy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79" y="4297680"/>
            <a:ext cx="4937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5A5A"/>
                </a:solidFill>
                <a:latin typeface="Arial"/>
              </a:rPr>
              <a:t>CMO-backed rules: who gets MCP/API credentials; who gets Ask AT&amp;T domain access; anti-workaround stance.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5A5A"/>
                </a:solidFill>
                <a:latin typeface="Arial"/>
              </a:rPr>
              <a:t>AT&amp;T Marketing | Insightful AI Access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25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67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Arial"/>
              </a:rPr>
              <a:t>Serve demand with MCP + API.
Build the domain with discipline.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CC9D6"/>
                </a:solidFill>
                <a:latin typeface="Arial"/>
              </a:rPr>
              <a:t>That keeps Insightful’s proprietary advantage working for AT&amp;T’s AI ecosystem —
and keeps Ask AT&amp;T on a path that is governed, tested, and staffed to last.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292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CC9D6"/>
                </a:solidFill>
                <a:latin typeface="Arial"/>
              </a:rPr>
              <a:t>AT&amp;T Marketing  |  Insightful AI Access Recommendation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