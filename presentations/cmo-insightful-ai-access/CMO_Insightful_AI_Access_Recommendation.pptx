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AA5DC"/>
                </a:solidFill>
                <a:latin typeface="Arial"/>
              </a:rPr>
              <a:t>RECOMMENDATION FOR CMO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Unlocking Insightful for AT&amp;T’s AI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CC9D6"/>
                </a:solidFill>
                <a:latin typeface="Arial"/>
              </a:rPr>
              <a:t>Meet rising demand for agent-ready knowledge — with governance,
without workarounds, without losing what Stravito already perfected.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C9D6"/>
                </a:solidFill>
                <a:latin typeface="Arial"/>
              </a:rPr>
              <a:t>Marketing Knowledge Management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Today, content and the AI assistant live only in Insightful (Stravito, AT&amp;T-branded).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Approve MCP or API access by use case. Keep the knowledge domain as a separate goal.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303520" cy="36576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7200"/>
                </a:solidFill>
                <a:latin typeface="Arial"/>
              </a:rPr>
              <a:t>NEAR-TERM — BY USE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Approve MCP or API access to live Insightful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Arial"/>
              </a:rPr>
              <a:t>Agents / agent platforms → MCP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Arial"/>
              </a:rPr>
              <a:t>Custom apps / backends → API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Arial"/>
              </a:rPr>
              <a:t>Same live Insightful knowledge. Right pipe for each project. Stops workarounds.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303520" cy="36576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SEPARATE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231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Advance Ask AT&amp;T knowledge 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3832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Arial"/>
              </a:rPr>
              <a:t>Security copy (content + metadata) already uploaded.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Arial"/>
              </a:rPr>
              <a:t>Next: golden questions, truth answers, governance, stewards.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Arial"/>
              </a:rPr>
              <a:t>Not the near-term demand fix — its own investment track.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5A5A"/>
                </a:solidFill>
                <a:latin typeface="Arial"/>
              </a:rPr>
              <a:t>AI curiosity is growing. So is interest in Insightful’s knowledge 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611880" cy="38404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People want Insightful inside their AI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747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Teams building agents and AI tools need a sanctioned path to insert curated insights into product experiences.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11880" cy="38404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If access lags, workarounds appear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4747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Unauthorized copies, one-off scrapes, and local RAG experiments create security, quality, and brand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611880" cy="38404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9659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PROPRIETARY LENS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37744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Stravito is not just a document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4747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Chosen because it democratizes knowledge socially — semantic layer, AT&amp;T taxonomy, marketing-research AI, curated collections.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What we would lose if we treat Insightful as “just docs”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" cy="9144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Semantic + taxonomy fluency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Understands AT&amp;T terms, categories, and how marketers actually search and speak.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09728" cy="9144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Marketing-research AI posture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Assistant approaches questions like an insights professional — not a generic chatbot.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83280"/>
            <a:ext cx="109728" cy="9144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Curated collections as assets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Team-built collections across the org are knowledge products in themselves.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09728" cy="9144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Social democratization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Easy, trusted discovery that made the platform the system of engagement.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Three paths to Insightful in the AI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01 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3716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7AB4"/>
                </a:solidFill>
                <a:latin typeface="Arial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Standard tool interface so agents can search and retrieve Insightful live, with controlled 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02 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175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7AB4"/>
                </a:solidFill>
                <a:latin typeface="Arial"/>
              </a:rPr>
              <a:t>Application programming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38328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Direct Search / Lookup connections for apps and backends that need Insightful inside custom AI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03  Knowledge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6634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7AB4"/>
                </a:solidFill>
                <a:latin typeface="Arial"/>
              </a:rPr>
              <a:t>Ask AT&amp;T / Ask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02920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Q&amp;A against a secured copy of Insightful content + metadata already loaded for data security.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Option 1 —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Best fit for groups building agents and AI-backed tools.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EBB1F"/>
                </a:solidFill>
                <a:latin typeface="Arial"/>
              </a:rPr>
              <a:t>Pros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Agent-native: tools discover and call Insightful in agent frameworks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Live source — less drift than a copied corpus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Permissions and actions can ride with the connecting identity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Scales across many AI projects with one integration pattern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Aligns with where enterprise AI platforms are standardizing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200"/>
                </a:solidFill>
                <a:latin typeface="Arial"/>
              </a:rPr>
              <a:t>Cons / watch-outs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Requires vendor enablement and AT&amp;T security review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Not every internal tool supports MCP yet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Needs clear tool scopes (search vs. retrieve vs. write)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Operational ownership: who approves agent clients?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Still depends on Stravito platform availability/SLA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Option 2 —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Strong companion path for custom apps and non-MCP surfaces.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EBB1F"/>
                </a:solidFill>
                <a:latin typeface="Arial"/>
              </a:rPr>
              <a:t>Pros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Proven enterprise pattern (Search, Lookup, usage logs)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Fits backends, intranet widgets, and bespoke AI apps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Live Insightful content and metadata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Easier for teams already shipping REST integrations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Complements MCP where MCP is not 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200"/>
                </a:solidFill>
                <a:latin typeface="Arial"/>
              </a:rPr>
              <a:t>Cons / watch-outs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Each product team reinvents orchestration unless we provide a shared pattern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More engineering lift per project than MCP for agent builders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Rate limits, auth, and client sprawl need central guardrails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Does not by itself teach agents “when” to call Insightful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Still platform-dependent on Stravito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Option 3 — Knowledge domain (Ask AT&amp;T)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Secured copy is uploaded. We are at golden-question setup — not yet production-ready.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EBB1F"/>
                </a:solidFill>
                <a:latin typeface="Arial"/>
              </a:rPr>
              <a:t>Pros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Meets data-security ask: copy of content + metadata inside AT&amp;T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Natural fit for Ask AT&amp;T / Ask Docs employee experience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Long-term option to broaden reach beyond Stravito UI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Can become strategic internal Q&amp;A surface for marketing knowledge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200"/>
                </a:solidFill>
                <a:latin typeface="Arial"/>
              </a:rPr>
              <a:t>Cons / watch-outs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Answers a copy — freshness and sync are ongoing work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Does not yet replace Stravito’s social UX, collections, or research-tuned assistant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Quality depends on golden questions, truth answers, and testing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Needs governance, stewards, and sustained support — not a one-time upload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Wrong primary fix for teams shipping agents this quarter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C2577"/>
                </a:solidFill>
                <a:latin typeface="Arial"/>
              </a:rPr>
              <a:t>Architecture wireframe — how the options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One source of curated knowledge. Three sanctioned connection patterns. No shadow copies.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3383280" cy="8686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90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61288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2577"/>
                </a:solidFill>
                <a:latin typeface="Arial"/>
              </a:rPr>
              <a:t>Agent builders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356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Cursor / Copilot agents / internal agent platforms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051560"/>
            <a:ext cx="3383280" cy="8686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9050">
            <a:solidFill>
              <a:srgbClr val="067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161288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2577"/>
                </a:solidFill>
                <a:latin typeface="Arial"/>
              </a:rPr>
              <a:t>Custom AI-backed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4356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Apps, intranet, backends needing Search / Lookup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051560"/>
            <a:ext cx="3383280" cy="8686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9050">
            <a:solidFill>
              <a:srgbClr val="0C25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1161288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2577"/>
                </a:solidFill>
                <a:latin typeface="Arial"/>
              </a:rPr>
              <a:t>Employees via Ask AT&amp;T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4356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Ask Docs Q&amp;A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920240"/>
            <a:ext cx="31750" cy="32004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920240"/>
            <a:ext cx="31750" cy="32004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966960" y="1920240"/>
            <a:ext cx="31750" cy="32004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228600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95728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7200"/>
                </a:solidFill>
                <a:latin typeface="Arial"/>
              </a:rPr>
              <a:t>MCP  ·  BY 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670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Agents / agent platforms
Live Insightful tool calls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28600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67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2395728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67AB4"/>
                </a:solidFill>
                <a:latin typeface="Arial"/>
              </a:rPr>
              <a:t>API  ·  BY USE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670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Custom apps / backends
Live Search / Lookup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28600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C25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0768" y="2395728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2577"/>
                </a:solidFill>
                <a:latin typeface="Arial"/>
              </a:rPr>
              <a:t>Knowledge domain  · 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670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Ask AT&amp;T Q&amp;A on secured copy
Golden-question quality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246120"/>
            <a:ext cx="31750" cy="36576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3246120"/>
            <a:ext cx="31750" cy="36576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03120" y="3611880"/>
            <a:ext cx="3931920" cy="3175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9080" y="3611880"/>
            <a:ext cx="31750" cy="32004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66960" y="3246120"/>
            <a:ext cx="31750" cy="6858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" y="4023360"/>
            <a:ext cx="6035040" cy="1417320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 w="19050">
            <a:solidFill>
              <a:srgbClr val="067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133088"/>
            <a:ext cx="5815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2577"/>
                </a:solidFill>
                <a:latin typeface="Arial"/>
              </a:rPr>
              <a:t>Insightful on Stravito  ·  LIVE SYSTEM OF ENGAGEMENT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407408"/>
            <a:ext cx="5852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Semantic layer · AT&amp;T taxonomy · marketing-research assistant
Curated collections · permissions · source of truth for MCP &amp; API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9520" y="402336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5F5F8"/>
          </a:solidFill>
          <a:ln w="19050">
            <a:solidFill>
              <a:srgbClr val="0C25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99248" y="4133088"/>
            <a:ext cx="38953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C2577"/>
                </a:solidFill>
                <a:latin typeface="Arial"/>
              </a:rPr>
              <a:t>Ask AT&amp;T domain COPY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407408"/>
            <a:ext cx="3931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Full content + metadata uploaded
You are here → golden questions
Sync / freshness required ongoing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69280"/>
            <a:ext cx="11247120" cy="59436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77900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Read left→right for demand: MCP/API unlock agents now against live Insightful.  Right path = security-driven copy for Ask AT&amp;T — strategic, staffed, tested before broad trust.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Approve MCP or API access to live Insightful based on use case. Treat the Ask AT&amp;T knowledge domain as a separate goal — not the near-term demand 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Today: content and the AI assistant exist only inside Insightful (Stravito, AT&amp;T-branded). That is the live system of engagement.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By use case: agents / agent platforms → MCP. Custom apps / backends → API. Neither pipe alone covers every AI project — choose the right one per request.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Separate goal: Ask AT&amp;T domain copy is uploaded for security. Completing it needs golden questions, stewards, and governance before it earns broad 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C2577"/>
                </a:solidFill>
                <a:latin typeface="Arial"/>
              </a:rPr>
              <a:t>Knowledge domain — where we are: golden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This is the quality gate before Ask AT&amp;T should be trusted with Insightful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1. Design the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50–150 questions spanning priority brands, categories, regions, taxonomy terms, and hard negatives.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2. Write truth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965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SME / steward authors expected answers with citations to source docs and metadata.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280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3. Run &amp;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Ask Docs answers each golden question; score correctness, completeness, citation quality, refusal behavior.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4. Tune &amp; retest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Fix retrieval, metadata, chunking, prompts; re-run until threshold 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566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5. Gate go-live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Publish only when quality bar + access policy + support model are signed.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566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6. Regression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Re-run golden set when corpus syncs or models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C2577"/>
                </a:solidFill>
                <a:latin typeface="Arial"/>
              </a:rPr>
              <a:t>Knowledge domain journey — Q&amp;A quality path and timeframe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Indicative ~8–10 week stand-up to gated pilot, then ongoing steward operations. Calibrate to SME capacity.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31750"/>
          </a:xfrm>
          <a:prstGeom prst="rect">
            <a:avLst/>
          </a:prstGeom>
          <a:solidFill>
            <a:srgbClr val="BCC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298448"/>
            <a:ext cx="256032" cy="256032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8" y="1554480"/>
            <a:ext cx="31750" cy="2286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7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59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67AB4"/>
                </a:solidFill>
                <a:latin typeface="Arial"/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9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Corpus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9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Content + metadata
copied into Ask Docs</a:t>
            </a:r>
          </a:p>
        </p:txBody>
      </p:sp>
      <p:sp>
        <p:nvSpPr>
          <p:cNvPr id="13" name="Oval 12"/>
          <p:cNvSpPr/>
          <p:nvPr/>
        </p:nvSpPr>
        <p:spPr>
          <a:xfrm>
            <a:off x="2453640" y="1298448"/>
            <a:ext cx="256032" cy="256032"/>
          </a:xfrm>
          <a:prstGeom prst="ellipse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3368" y="1554480"/>
            <a:ext cx="31750" cy="2286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31848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05000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7200"/>
                </a:solidFill>
                <a:latin typeface="Arial"/>
              </a:rPr>
              <a:t>Wks 1–2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Design golden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50–150 Qs across
taxonomy &amp; edge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4221480" y="1298448"/>
            <a:ext cx="256032" cy="256032"/>
          </a:xfrm>
          <a:prstGeom prst="ellipse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1208" y="1554480"/>
            <a:ext cx="31750" cy="2286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99688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2840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C2577"/>
                </a:solidFill>
                <a:latin typeface="Arial"/>
              </a:rPr>
              <a:t>Wks 2–4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2840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Truth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840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SME / steward writes
expected answers + cites</a:t>
            </a:r>
          </a:p>
        </p:txBody>
      </p:sp>
      <p:sp>
        <p:nvSpPr>
          <p:cNvPr id="25" name="Oval 24"/>
          <p:cNvSpPr/>
          <p:nvPr/>
        </p:nvSpPr>
        <p:spPr>
          <a:xfrm>
            <a:off x="5989320" y="1298448"/>
            <a:ext cx="256032" cy="256032"/>
          </a:xfrm>
          <a:prstGeom prst="ellipse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8" y="1554480"/>
            <a:ext cx="31750" cy="2286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367528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C2577"/>
                </a:solidFill>
                <a:latin typeface="Arial"/>
              </a:rPr>
              <a:t>Wks 4–5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Blind run &amp; 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Ask Docs answers;
scorecard vs truth</a:t>
            </a:r>
          </a:p>
        </p:txBody>
      </p:sp>
      <p:sp>
        <p:nvSpPr>
          <p:cNvPr id="31" name="Oval 30"/>
          <p:cNvSpPr/>
          <p:nvPr/>
        </p:nvSpPr>
        <p:spPr>
          <a:xfrm>
            <a:off x="7757160" y="1298448"/>
            <a:ext cx="256032" cy="256032"/>
          </a:xfrm>
          <a:prstGeom prst="ellipse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66888" y="1554480"/>
            <a:ext cx="31750" cy="2286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135368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8520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C2577"/>
                </a:solidFill>
                <a:latin typeface="Arial"/>
              </a:rPr>
              <a:t>Wks 5–8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8520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Tune &amp; retest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8520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Fix retrieval / metadata;
re-run to threshold</a:t>
            </a:r>
          </a:p>
        </p:txBody>
      </p:sp>
      <p:sp>
        <p:nvSpPr>
          <p:cNvPr id="37" name="Oval 36"/>
          <p:cNvSpPr/>
          <p:nvPr/>
        </p:nvSpPr>
        <p:spPr>
          <a:xfrm>
            <a:off x="9525000" y="1298448"/>
            <a:ext cx="256032" cy="256032"/>
          </a:xfrm>
          <a:prstGeom prst="ellipse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34727" y="1554480"/>
            <a:ext cx="31750" cy="2286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903208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6360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C2577"/>
                </a:solidFill>
                <a:latin typeface="Arial"/>
              </a:rPr>
              <a:t>Wk 8–9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6360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Gate go-live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76360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Policy + support +
quality bar signed</a:t>
            </a:r>
          </a:p>
        </p:txBody>
      </p:sp>
      <p:sp>
        <p:nvSpPr>
          <p:cNvPr id="43" name="Oval 42"/>
          <p:cNvSpPr/>
          <p:nvPr/>
        </p:nvSpPr>
        <p:spPr>
          <a:xfrm>
            <a:off x="11292840" y="1298448"/>
            <a:ext cx="256032" cy="256032"/>
          </a:xfrm>
          <a:prstGeom prst="ellipse">
            <a:avLst/>
          </a:prstGeom>
          <a:solidFill>
            <a:srgbClr val="6EB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02567" y="1554480"/>
            <a:ext cx="31750" cy="228600"/>
          </a:xfrm>
          <a:prstGeom prst="rect">
            <a:avLst/>
          </a:prstGeom>
          <a:solidFill>
            <a:srgbClr val="6EB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671048" y="1828800"/>
            <a:ext cx="1508760" cy="21488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1938528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6EBB1F"/>
                </a:solidFill>
                <a:latin typeface="Arial"/>
              </a:rPr>
              <a:t>Ongoing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44200" y="2212848"/>
            <a:ext cx="1362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C2577"/>
                </a:solidFill>
                <a:latin typeface="Arial"/>
              </a:rPr>
              <a:t>Regression ops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2788920"/>
            <a:ext cx="1362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Arial"/>
              </a:rPr>
              <a:t>Re-test on sync /
model change; steward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160520"/>
            <a:ext cx="11247120" cy="914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7200"/>
                </a:solidFill>
                <a:latin typeface="Arial"/>
              </a:rPr>
              <a:t>YOU ARE HERE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5720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Arial"/>
              </a:rPr>
              <a:t>Upload complete. Next critical path = design golden questions + truth answers with SME panel, then score Ask Docs before any broad access.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Parallel track (not on this timeline): MCP + API vendor enablement and security review can proceed immediately to serve agent demand — domain go-live is not a blocker.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C2577"/>
                </a:solidFill>
                <a:latin typeface="Arial"/>
              </a:rPr>
              <a:t>Strategic investment: what the knowledge domain needs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Golden Q&amp;A 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Question bank + truth answers owned by insights SMEs; versioned like a product artifact.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Governance &amp;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Who may query, who may publish, DLP/classification, audit of Ask AT&amp;T usage.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Knowledge steward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Named owner for corpus health, sync exceptions, answer quality, and escalation.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Sync &amp; freshness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Cadence from Insightful → domain copy; metadata parity; stale-content playbook.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Testing &amp;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Pre-release golden-set scorecard; change management when models or chunking change.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Ongoing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Tier-1 user help, steward office hours, feedback loop into collections and tagging.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Success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Answer quality %, citation hit rate, time-to-insight, deflection from workarounds.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Risk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Wrong-answer escalation, “I don’t know” policy, sensitive-topic handling.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Human impact — roles, hours,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Indicative planning ranges for CMO discussion (calibrate with HR / insights capacity).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234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34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Responsibility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Knowledge Steward (lead)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6459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Standing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6459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0.4–0.6 FTE ongoing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6459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Corpus quality, golden set, access requests, sync exceptions, SME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Insights SMEs (panel)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4688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Rotating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468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~40–80 hrs stand-up; 4–8 hrs/mo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4688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Truth answers, taxonomy edge cases, approve go-live scorecard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918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KM / platform 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2918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Shared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91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~20–40 hrs stand-up; 2–4 hrs/wk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29184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Sync jobs, metadata, Ask AT&amp;T config, release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4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Security /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1148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Checkpoint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114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~15–25 hrs initial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11480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Access model, audit, data-class controls, exception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9377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MCP / API program owner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49377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Standing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37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0.25–0.4 FTE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37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Vendor enablement, client onboarding, guardrails, usage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Knowledge Steward — proposed accountability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05156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0972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Own the golden-question bank and truth-answer currency with SME panel.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82880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745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74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Approve / deny domain access requests against CMO-endorsed policy.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606039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51759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6517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Monitor answer quality metrics and escalate wrong-answer incidents.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383279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428999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2899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Coordinate Insightful → Ask Docs sync issues and metadata gaps.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16052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62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Partner with MCP/API owner so agent experiences cite the same sources of truth.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3776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9834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3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Report quarterly to CMO: quality, usage, risks, and capacity needs.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Decision requested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258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Approve MCP or API by 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Authorize commercial/security engagement so sanctioned AI projects can get MCP or API access to live Insightful based on need.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00584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9" y="13258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Name program owners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19202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Assign access owner (MCP/API intake) and interim Knowledge Steward; confirm SME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8328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033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Fund domain as separate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Endorse golden-question stand-up and steward model — without blocking demand on domain go-live.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38328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19" y="37033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Set access policy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42976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CMO-backed rules: which use cases get MCP vs API; who gets Ask AT&amp;T domain access; anti-workaround stance.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Approve the right pipe by use case.
Build the domain as its own goal.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CC9D6"/>
                </a:solidFill>
                <a:latin typeface="Arial"/>
              </a:rPr>
              <a:t>Keep content and assistant on live Insightful today — open MCP or API where teams need it —
and staff Ask AT&amp;T so the copy path is governed, tested, and ready when it earns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C9D6"/>
                </a:solidFill>
                <a:latin typeface="Arial"/>
              </a:rPr>
              <a:t>AT&amp;T Marketing  |  Insightful AI Access Recommendation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