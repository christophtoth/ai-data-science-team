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67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AA5DC"/>
                </a:solidFill>
                <a:latin typeface="Arial"/>
              </a:rPr>
              <a:t>RECOMMENDATION FOR CMO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Unlocking Insightful for AT&amp;T’s AI Ecosystem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CC9D6"/>
                </a:solidFill>
                <a:latin typeface="Arial"/>
              </a:rPr>
              <a:t>Meet rising demand for agent-ready knowledge — with governance,
without workarounds, without losing what Stravito already perfected.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120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CC9D6"/>
                </a:solidFill>
                <a:latin typeface="Arial"/>
              </a:rPr>
              <a:t>Marketing Knowledge Management  |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7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C2577"/>
                </a:solidFill>
                <a:latin typeface="Arial"/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0000"/>
                </a:solidFill>
                <a:latin typeface="Arial"/>
              </a:rPr>
              <a:t>Approve a dual-track approach to Insightful AI access.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303520" cy="347472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7200"/>
                </a:solidFill>
                <a:latin typeface="Arial"/>
              </a:rPr>
              <a:t>PRIMARY — 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C2577"/>
                </a:solidFill>
                <a:latin typeface="Arial"/>
              </a:rPr>
              <a:t>Sign on for MCP (preferred) and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9184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5A5A5A"/>
                </a:solidFill>
                <a:latin typeface="Arial"/>
              </a:rPr>
              <a:t>Gives teams building agents and AI-backed tools a governed way to pull Insightful knowledge into their work.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5A5A5A"/>
                </a:solidFill>
                <a:latin typeface="Arial"/>
              </a:rPr>
              <a:t>Solves immediate demand and reduces shadow integrations.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303520" cy="347472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0574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67AB4"/>
                </a:solidFill>
                <a:latin typeface="Arial"/>
              </a:rPr>
              <a:t>STRATEGIC — PARALLEL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46888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C2577"/>
                </a:solidFill>
                <a:latin typeface="Arial"/>
              </a:rPr>
              <a:t>Advance Ask AT&amp;T knowledge domain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29184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5A5A5A"/>
                </a:solidFill>
                <a:latin typeface="Arial"/>
              </a:rPr>
              <a:t>Corpus copy + metadata already uploaded for security. Next: golden questions, truth answers, governance, stewards.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5A5A5A"/>
                </a:solidFill>
                <a:latin typeface="Arial"/>
              </a:rPr>
              <a:t>Treat as a side goal we invest in — not the near-term demand fix.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Arial"/>
              </a:rPr>
              <a:t>AT&amp;T Marketing | Insightful AI Access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7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C2577"/>
                </a:solidFill>
                <a:latin typeface="Arial"/>
              </a:rPr>
              <a:t>Why this matters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A5A5A"/>
                </a:solidFill>
                <a:latin typeface="Arial"/>
              </a:rPr>
              <a:t>AI curiosity is growing. So is interest in Insightful’s knowledge base.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3611880" cy="384048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6596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67AB4"/>
                </a:solidFill>
                <a:latin typeface="Arial"/>
              </a:rPr>
              <a:t>DEMAND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77440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C2577"/>
                </a:solidFill>
                <a:latin typeface="Arial"/>
              </a:rPr>
              <a:t>People want Insightful inside their AI projects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474720"/>
            <a:ext cx="3154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5A5A"/>
                </a:solidFill>
                <a:latin typeface="Arial"/>
              </a:rPr>
              <a:t>Teams building agents and AI tools need a sanctioned path to insert curated insights into product experiences.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737360"/>
            <a:ext cx="3611880" cy="384048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96596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67AB4"/>
                </a:solidFill>
                <a:latin typeface="Arial"/>
              </a:rPr>
              <a:t>GOVERNANCE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377440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C2577"/>
                </a:solidFill>
                <a:latin typeface="Arial"/>
              </a:rPr>
              <a:t>If access lags, workarounds appear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474720"/>
            <a:ext cx="3154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5A5A"/>
                </a:solidFill>
                <a:latin typeface="Arial"/>
              </a:rPr>
              <a:t>Unauthorized copies, one-off scrapes, and local RAG experiments create security, quality, and brand risk.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737360"/>
            <a:ext cx="3611880" cy="384048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96596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67AB4"/>
                </a:solidFill>
                <a:latin typeface="Arial"/>
              </a:rPr>
              <a:t>PROPRIETARY LENS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377440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C2577"/>
                </a:solidFill>
                <a:latin typeface="Arial"/>
              </a:rPr>
              <a:t>Stravito is not just a document store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3474720"/>
            <a:ext cx="3154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5A5A"/>
                </a:solidFill>
                <a:latin typeface="Arial"/>
              </a:rPr>
              <a:t>Chosen because it democratizes knowledge socially — semantic layer, AT&amp;T taxonomy, marketing-research AI, curated collections.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Arial"/>
              </a:rPr>
              <a:t>AT&amp;T Marketing | Insightful AI Access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7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C2577"/>
                </a:solidFill>
                <a:latin typeface="Arial"/>
              </a:rPr>
              <a:t>What we would lose if we treat Insightful as “just docs”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109728" cy="914400"/>
          </a:xfrm>
          <a:prstGeom prst="rect">
            <a:avLst/>
          </a:prstGeom>
          <a:solidFill>
            <a:srgbClr val="FF7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0972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C2577"/>
                </a:solidFill>
                <a:latin typeface="Arial"/>
              </a:rPr>
              <a:t>Semantic + taxonomy fluency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5A5A"/>
                </a:solidFill>
                <a:latin typeface="Arial"/>
              </a:rPr>
              <a:t>Understands AT&amp;T terms, categories, and how marketers actually search and speak.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40280"/>
            <a:ext cx="109728" cy="914400"/>
          </a:xfrm>
          <a:prstGeom prst="rect">
            <a:avLst/>
          </a:prstGeom>
          <a:solidFill>
            <a:srgbClr val="067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402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C2577"/>
                </a:solidFill>
                <a:latin typeface="Arial"/>
              </a:rPr>
              <a:t>Marketing-research AI posture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06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5A5A"/>
                </a:solidFill>
                <a:latin typeface="Arial"/>
              </a:rPr>
              <a:t>Assistant approaches questions like an insights professional — not a generic chatbot.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383280"/>
            <a:ext cx="109728" cy="914400"/>
          </a:xfrm>
          <a:prstGeom prst="rect">
            <a:avLst/>
          </a:prstGeom>
          <a:solidFill>
            <a:srgbClr val="067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3832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C2577"/>
                </a:solidFill>
                <a:latin typeface="Arial"/>
              </a:rPr>
              <a:t>Curated collections as assets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49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5A5A"/>
                </a:solidFill>
                <a:latin typeface="Arial"/>
              </a:rPr>
              <a:t>Team-built collections across the org are knowledge products in themselves.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526280"/>
            <a:ext cx="109728" cy="914400"/>
          </a:xfrm>
          <a:prstGeom prst="rect">
            <a:avLst/>
          </a:prstGeom>
          <a:solidFill>
            <a:srgbClr val="067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5262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C2577"/>
                </a:solidFill>
                <a:latin typeface="Arial"/>
              </a:rPr>
              <a:t>Social democratization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892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5A5A"/>
                </a:solidFill>
                <a:latin typeface="Arial"/>
              </a:rPr>
              <a:t>Easy, trusted discovery that made the platform the system of engagement.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Arial"/>
              </a:rPr>
              <a:t>AT&amp;T Marketing | Insightful AI Access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7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C2577"/>
                </a:solidFill>
                <a:latin typeface="Arial"/>
              </a:rPr>
              <a:t>Three paths to Insightful in the AI ecosystem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C2577"/>
                </a:solidFill>
                <a:latin typeface="Arial"/>
              </a:rPr>
              <a:t>01  MCP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37160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67AB4"/>
                </a:solidFill>
                <a:latin typeface="Arial"/>
              </a:rPr>
              <a:t>Model Context Protocol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737360"/>
            <a:ext cx="7132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5A5A"/>
                </a:solidFill>
                <a:latin typeface="Arial"/>
              </a:rPr>
              <a:t>Standard tool interface so agents can search and retrieve Insightful live, with controlled actions.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74320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971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C2577"/>
                </a:solidFill>
                <a:latin typeface="Arial"/>
              </a:rPr>
              <a:t>02 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01752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67AB4"/>
                </a:solidFill>
                <a:latin typeface="Arial"/>
              </a:rPr>
              <a:t>Application programming interface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383280"/>
            <a:ext cx="7132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5A5A"/>
                </a:solidFill>
                <a:latin typeface="Arial"/>
              </a:rPr>
              <a:t>Direct Search / Lookup connections for apps and backends that need Insightful inside custom AI tools.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38912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617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C2577"/>
                </a:solidFill>
                <a:latin typeface="Arial"/>
              </a:rPr>
              <a:t>03  Knowledge domain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466344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67AB4"/>
                </a:solidFill>
                <a:latin typeface="Arial"/>
              </a:rPr>
              <a:t>Ask AT&amp;T / Ask Docs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5029200"/>
            <a:ext cx="7132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5A5A"/>
                </a:solidFill>
                <a:latin typeface="Arial"/>
              </a:rPr>
              <a:t>Q&amp;A against a secured copy of Insightful content + metadata already loaded for data security.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Arial"/>
              </a:rPr>
              <a:t>AT&amp;T Marketing | Insightful AI Access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7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C2577"/>
                </a:solidFill>
                <a:latin typeface="Arial"/>
              </a:rPr>
              <a:t>Option 1 — MCP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5A5A"/>
                </a:solidFill>
                <a:latin typeface="Arial"/>
              </a:rPr>
              <a:t>Best fit for groups building agents and AI-backed tools.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394960" cy="438912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6EBB1F"/>
                </a:solidFill>
                <a:latin typeface="Arial"/>
              </a:rPr>
              <a:t>Pros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4846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• Agent-native: tools discover and call Insightful in agent frameworks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• Live source — less drift than a copied corpus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• Permissions and actions can ride with the connecting identity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• Scales across many AI projects with one integration pattern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• Aligns with where enterprise AI platforms are standardizing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394960" cy="4389120"/>
          </a:xfrm>
          <a:prstGeom prst="roundRect">
            <a:avLst>
              <a:gd name="adj" fmla="val 5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00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7200"/>
                </a:solidFill>
                <a:latin typeface="Arial"/>
              </a:rPr>
              <a:t>Cons / watch-outs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03120"/>
            <a:ext cx="4846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• Requires vendor enablement and AT&amp;T security review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• Not every internal tool supports MCP yet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• Needs clear tool scopes (search vs. retrieve vs. write)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• Operational ownership: who approves agent clients?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• Still depends on Stravito platform availability/SLA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Arial"/>
              </a:rPr>
              <a:t>AT&amp;T Marketing | Insightful AI Access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7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C2577"/>
                </a:solidFill>
                <a:latin typeface="Arial"/>
              </a:rPr>
              <a:t>Option 2 —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5A5A"/>
                </a:solidFill>
                <a:latin typeface="Arial"/>
              </a:rPr>
              <a:t>Strong companion path for custom apps and non-MCP surfaces.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394960" cy="438912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6EBB1F"/>
                </a:solidFill>
                <a:latin typeface="Arial"/>
              </a:rPr>
              <a:t>Pros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4846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• Proven enterprise pattern (Search, Lookup, usage logs)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• Fits backends, intranet widgets, and bespoke AI apps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• Live Insightful content and metadata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• Easier for teams already shipping REST integrations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• Complements MCP where MCP is not available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394960" cy="4389120"/>
          </a:xfrm>
          <a:prstGeom prst="roundRect">
            <a:avLst>
              <a:gd name="adj" fmla="val 5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00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7200"/>
                </a:solidFill>
                <a:latin typeface="Arial"/>
              </a:rPr>
              <a:t>Cons / watch-outs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03120"/>
            <a:ext cx="4846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• Each product team reinvents orchestration unless we provide a shared pattern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• More engineering lift per project than MCP for agent builders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• Rate limits, auth, and client sprawl need central guardrails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• Does not by itself teach agents “when” to call Insightful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• Still platform-dependent on Stravito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Arial"/>
              </a:rPr>
              <a:t>AT&amp;T Marketing | Insightful AI Access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7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C2577"/>
                </a:solidFill>
                <a:latin typeface="Arial"/>
              </a:rPr>
              <a:t>Option 3 — Knowledge domain (Ask AT&amp;T)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5A5A"/>
                </a:solidFill>
                <a:latin typeface="Arial"/>
              </a:rPr>
              <a:t>Secured copy is uploaded. We are at golden-question setup — not yet production-ready.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394960" cy="438912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6EBB1F"/>
                </a:solidFill>
                <a:latin typeface="Arial"/>
              </a:rPr>
              <a:t>Pros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4846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• Meets data-security ask: copy of content + metadata inside AT&amp;T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• Natural fit for Ask AT&amp;T / Ask Docs employee experience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• Long-term option to broaden reach beyond Stravito UI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• Can become strategic internal Q&amp;A surface for marketing knowledge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394960" cy="4389120"/>
          </a:xfrm>
          <a:prstGeom prst="roundRect">
            <a:avLst>
              <a:gd name="adj" fmla="val 5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00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7200"/>
                </a:solidFill>
                <a:latin typeface="Arial"/>
              </a:rPr>
              <a:t>Cons / watch-outs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03120"/>
            <a:ext cx="4846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• Answers a copy — freshness and sync are ongoing work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• Does not yet replace Stravito’s social UX, collections, or research-tuned assistant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• Quality depends on golden questions, truth answers, and testing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• Needs governance, stewards, and sustained support — not a one-time upload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000000"/>
                </a:solidFill>
                <a:latin typeface="Arial"/>
              </a:rPr>
              <a:t>• Wrong primary fix for teams shipping agents this quarter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Arial"/>
              </a:rPr>
              <a:t>AT&amp;T Marketing | Insightful AI Access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7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C2577"/>
                </a:solidFill>
                <a:latin typeface="Arial"/>
              </a:rPr>
              <a:t>Architecture wireframe — how the options connect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Arial"/>
              </a:rPr>
              <a:t>One source of curated knowledge. Three sanctioned connection patterns. No shadow copies.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51560"/>
            <a:ext cx="3383280" cy="86868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 w="19050">
            <a:solidFill>
              <a:srgbClr val="FF7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161288"/>
            <a:ext cx="31638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C2577"/>
                </a:solidFill>
                <a:latin typeface="Arial"/>
              </a:rPr>
              <a:t>Agent builders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3560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A5A5A"/>
                </a:solidFill>
                <a:latin typeface="Arial"/>
              </a:rPr>
              <a:t>Cursor / Copilot agents / internal agent platforms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051560"/>
            <a:ext cx="3383280" cy="86868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 w="19050">
            <a:solidFill>
              <a:srgbClr val="067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8848" y="1161288"/>
            <a:ext cx="31638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C2577"/>
                </a:solidFill>
                <a:latin typeface="Arial"/>
              </a:rPr>
              <a:t>Custom AI-backed 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43560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A5A5A"/>
                </a:solidFill>
                <a:latin typeface="Arial"/>
              </a:rPr>
              <a:t>Apps, intranet, backends needing Search / Lookup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051560"/>
            <a:ext cx="3383280" cy="86868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 w="19050">
            <a:solidFill>
              <a:srgbClr val="0C2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0768" y="1161288"/>
            <a:ext cx="31638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C2577"/>
                </a:solidFill>
                <a:latin typeface="Arial"/>
              </a:rPr>
              <a:t>Employees via Ask AT&amp;T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143560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A5A5A"/>
                </a:solidFill>
                <a:latin typeface="Arial"/>
              </a:rPr>
              <a:t>Ask Docs Q&amp;A experience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03120" y="1920240"/>
            <a:ext cx="31750" cy="320040"/>
          </a:xfrm>
          <a:prstGeom prst="rect">
            <a:avLst/>
          </a:prstGeom>
          <a:solidFill>
            <a:srgbClr val="FF7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920240"/>
            <a:ext cx="31750" cy="320040"/>
          </a:xfrm>
          <a:prstGeom prst="rect">
            <a:avLst/>
          </a:prstGeom>
          <a:solidFill>
            <a:srgbClr val="067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966960" y="1920240"/>
            <a:ext cx="31750" cy="320040"/>
          </a:xfrm>
          <a:prstGeom prst="rect">
            <a:avLst/>
          </a:prstGeom>
          <a:solidFill>
            <a:srgbClr val="0C2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7200" y="2286000"/>
            <a:ext cx="338328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F7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2395728"/>
            <a:ext cx="31638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7200"/>
                </a:solidFill>
                <a:latin typeface="Arial"/>
              </a:rPr>
              <a:t>MCP  ·  PRIMARY NOW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2670048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A5A5A"/>
                </a:solidFill>
                <a:latin typeface="Arial"/>
              </a:rPr>
              <a:t>Tool calls: search · retrieve · cite
Live Insightful, agent-native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2286000"/>
            <a:ext cx="338328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67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98848" y="2395728"/>
            <a:ext cx="31638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67AB4"/>
                </a:solidFill>
                <a:latin typeface="Arial"/>
              </a:rPr>
              <a:t>API  ·  COMPANION NOW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2670048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A5A5A"/>
                </a:solidFill>
                <a:latin typeface="Arial"/>
              </a:rPr>
              <a:t>REST Search / Lookup / logs
Live Insightful for custom apps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21040" y="2286000"/>
            <a:ext cx="338328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C2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0768" y="2395728"/>
            <a:ext cx="31638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C2577"/>
                </a:solidFill>
                <a:latin typeface="Arial"/>
              </a:rPr>
              <a:t>Knowledge domain  ·  SIDE GOAL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2670048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A5A5A"/>
                </a:solidFill>
                <a:latin typeface="Arial"/>
              </a:rPr>
              <a:t>Q&amp;A on secured copy + metadata
Ask Docs golden-question path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03120" y="3246120"/>
            <a:ext cx="31750" cy="365760"/>
          </a:xfrm>
          <a:prstGeom prst="rect">
            <a:avLst/>
          </a:prstGeom>
          <a:solidFill>
            <a:srgbClr val="FF7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35040" y="3246120"/>
            <a:ext cx="31750" cy="365760"/>
          </a:xfrm>
          <a:prstGeom prst="rect">
            <a:avLst/>
          </a:prstGeom>
          <a:solidFill>
            <a:srgbClr val="067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103120" y="3611880"/>
            <a:ext cx="3931920" cy="31750"/>
          </a:xfrm>
          <a:prstGeom prst="rect">
            <a:avLst/>
          </a:prstGeom>
          <a:solidFill>
            <a:srgbClr val="067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069080" y="3611880"/>
            <a:ext cx="31750" cy="320040"/>
          </a:xfrm>
          <a:prstGeom prst="rect">
            <a:avLst/>
          </a:prstGeom>
          <a:solidFill>
            <a:srgbClr val="067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66960" y="3246120"/>
            <a:ext cx="31750" cy="685800"/>
          </a:xfrm>
          <a:prstGeom prst="rect">
            <a:avLst/>
          </a:prstGeom>
          <a:solidFill>
            <a:srgbClr val="0C2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22960" y="4023360"/>
            <a:ext cx="6035040" cy="1417320"/>
          </a:xfrm>
          <a:prstGeom prst="roundRect">
            <a:avLst>
              <a:gd name="adj" fmla="val 8000"/>
            </a:avLst>
          </a:prstGeom>
          <a:solidFill>
            <a:srgbClr val="E8F1F8"/>
          </a:solidFill>
          <a:ln w="19050">
            <a:solidFill>
              <a:srgbClr val="067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2688" y="4133088"/>
            <a:ext cx="58155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C2577"/>
                </a:solidFill>
                <a:latin typeface="Arial"/>
              </a:rPr>
              <a:t>Insightful on Stravito  ·  LIVE SYSTEM OF ENGAGEMENT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4407408"/>
            <a:ext cx="58521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A5A5A"/>
                </a:solidFill>
                <a:latin typeface="Arial"/>
              </a:rPr>
              <a:t>Semantic layer · AT&amp;T taxonomy · marketing-research assistant
Curated collections · permissions · source of truth for MCP &amp; API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589520" y="4023360"/>
            <a:ext cx="4114800" cy="1417320"/>
          </a:xfrm>
          <a:prstGeom prst="roundRect">
            <a:avLst>
              <a:gd name="adj" fmla="val 8000"/>
            </a:avLst>
          </a:prstGeom>
          <a:solidFill>
            <a:srgbClr val="F5F5F8"/>
          </a:solidFill>
          <a:ln w="19050">
            <a:solidFill>
              <a:srgbClr val="0C2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99248" y="4133088"/>
            <a:ext cx="38953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C2577"/>
                </a:solidFill>
                <a:latin typeface="Arial"/>
              </a:rPr>
              <a:t>Ask AT&amp;T domain COPY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60" y="4407408"/>
            <a:ext cx="3931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A5A5A"/>
                </a:solidFill>
                <a:latin typeface="Arial"/>
              </a:rPr>
              <a:t>Full content + metadata uploaded
You are here → golden questions
Sync / freshness required ongoing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5669280"/>
            <a:ext cx="11247120" cy="59436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577900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Arial"/>
              </a:rPr>
              <a:t>Read left→right for demand: MCP/API unlock agents now against live Insightful.  Right path = security-driven copy for Ask AT&amp;T — strategic, staffed, tested before broad trust.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Arial"/>
              </a:rPr>
              <a:t>AT&amp;T Marketing | Insightful AI Access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7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C2577"/>
                </a:solidFill>
                <a:latin typeface="Arial"/>
              </a:rPr>
              <a:t>Recommendation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5156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0C2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280160"/>
            <a:ext cx="10424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Sign on for MCP as the primary path for agent builders; enable API alongside it for custom AI tools. Advance the Ask AT&amp;T knowledge domain as a strategic side investment — not the near-term demand solution.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3464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0">
                <a:solidFill>
                  <a:srgbClr val="5A5A5A"/>
                </a:solidFill>
                <a:latin typeface="Arial"/>
              </a:rPr>
              <a:t>Why MCP first for agents: it is the cleanest way for AI tools to call Insightful as a governed capability — search, retrieve, cite — without each team inventing a private pipeline.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5A5A5A"/>
                </a:solidFill>
                <a:latin typeface="Arial"/>
              </a:rPr>
              <a:t>Why API with it: many AT&amp;T apps will not speak MCP yet; Search/Lookup covers those surfaces with the same live knowledge.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5A5A5A"/>
                </a:solidFill>
                <a:latin typeface="Arial"/>
              </a:rPr>
              <a:t>Why domain stays strategic: security already drove a full copy into Ask Docs. That investment is real — and unfinished. Completing it requires golden questions, stewards, and operating cadence before it can rival Insightful’s curated experience.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Arial"/>
              </a:rPr>
              <a:t>AT&amp;T Marketing | Insightful AI Access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7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C2577"/>
                </a:solidFill>
                <a:latin typeface="Arial"/>
              </a:rPr>
              <a:t>Knowledge domain — where we are: golden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5A5A"/>
                </a:solidFill>
                <a:latin typeface="Arial"/>
              </a:rPr>
              <a:t>This is the quality gate before Ask AT&amp;T should be trusted with Insightful answers.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3611880" cy="205740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67AB4"/>
                </a:solidFill>
                <a:latin typeface="Arial"/>
              </a:rPr>
              <a:t>1. Design the 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Arial"/>
              </a:rPr>
              <a:t>50–150 questions spanning priority brands, categories, regions, taxonomy terms, and hard negatives.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280160"/>
            <a:ext cx="3611880" cy="205740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508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67AB4"/>
                </a:solidFill>
                <a:latin typeface="Arial"/>
              </a:rPr>
              <a:t>2. Write truth answers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196596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Arial"/>
              </a:rPr>
              <a:t>SME / steward authors expected answers with citations to source docs and metadata.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280160"/>
            <a:ext cx="3611880" cy="205740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508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67AB4"/>
                </a:solidFill>
                <a:latin typeface="Arial"/>
              </a:rPr>
              <a:t>3. Run &amp; 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196596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Arial"/>
              </a:rPr>
              <a:t>Ask Docs answers each golden question; score correctness, completeness, citation quality, refusal behavior.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566160"/>
            <a:ext cx="3611880" cy="205740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794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67AB4"/>
                </a:solidFill>
                <a:latin typeface="Arial"/>
              </a:rPr>
              <a:t>4. Tune &amp; retest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25196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Arial"/>
              </a:rPr>
              <a:t>Fix retrieval, metadata, chunking, prompts; re-run until threshold met.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3566160"/>
            <a:ext cx="3611880" cy="205740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3794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67AB4"/>
                </a:solidFill>
                <a:latin typeface="Arial"/>
              </a:rPr>
              <a:t>5. Gate go-live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425196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Arial"/>
              </a:rPr>
              <a:t>Publish only when quality bar + access policy + support model are signed.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3566160"/>
            <a:ext cx="3611880" cy="205740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3794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67AB4"/>
                </a:solidFill>
                <a:latin typeface="Arial"/>
              </a:rPr>
              <a:t>6. Regression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425196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Arial"/>
              </a:rPr>
              <a:t>Re-run golden set when corpus syncs or models change.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Arial"/>
              </a:rPr>
              <a:t>AT&amp;T Marketing | Insightful AI Access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7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C2577"/>
                </a:solidFill>
                <a:latin typeface="Arial"/>
              </a:rPr>
              <a:t>Knowledge domain journey — Q&amp;A quality path and timeframe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Arial"/>
              </a:rPr>
              <a:t>Indicative ~8–10 week stand-up to gated pilot, then ongoing steward operations. Calibrate to SME capacity.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10881360" cy="31750"/>
          </a:xfrm>
          <a:prstGeom prst="rect">
            <a:avLst/>
          </a:prstGeom>
          <a:solidFill>
            <a:srgbClr val="BCC9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1298448"/>
            <a:ext cx="256032" cy="256032"/>
          </a:xfrm>
          <a:prstGeom prst="ellipse">
            <a:avLst/>
          </a:prstGeom>
          <a:solidFill>
            <a:srgbClr val="067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95528" y="1554480"/>
            <a:ext cx="31750" cy="228600"/>
          </a:xfrm>
          <a:prstGeom prst="rect">
            <a:avLst/>
          </a:prstGeom>
          <a:solidFill>
            <a:srgbClr val="067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7" y="1828800"/>
            <a:ext cx="1508760" cy="2148840"/>
          </a:xfrm>
          <a:prstGeom prst="roundRect">
            <a:avLst>
              <a:gd name="adj" fmla="val 5000"/>
            </a:avLst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59" y="1938528"/>
            <a:ext cx="13624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67AB4"/>
                </a:solidFill>
                <a:latin typeface="Arial"/>
              </a:rPr>
              <a:t>DONE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59" y="2212848"/>
            <a:ext cx="136245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C2577"/>
                </a:solidFill>
                <a:latin typeface="Arial"/>
              </a:rPr>
              <a:t>Corpus ready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59" y="2788920"/>
            <a:ext cx="136245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A5A5A"/>
                </a:solidFill>
                <a:latin typeface="Arial"/>
              </a:rPr>
              <a:t>Content + metadata
copied into Ask Docs</a:t>
            </a:r>
          </a:p>
        </p:txBody>
      </p:sp>
      <p:sp>
        <p:nvSpPr>
          <p:cNvPr id="13" name="Oval 12"/>
          <p:cNvSpPr/>
          <p:nvPr/>
        </p:nvSpPr>
        <p:spPr>
          <a:xfrm>
            <a:off x="2453640" y="1298448"/>
            <a:ext cx="256032" cy="256032"/>
          </a:xfrm>
          <a:prstGeom prst="ellipse">
            <a:avLst/>
          </a:prstGeom>
          <a:solidFill>
            <a:srgbClr val="FF7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63368" y="1554480"/>
            <a:ext cx="31750" cy="228600"/>
          </a:xfrm>
          <a:prstGeom prst="rect">
            <a:avLst/>
          </a:prstGeom>
          <a:solidFill>
            <a:srgbClr val="FF7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831848" y="1828800"/>
            <a:ext cx="1508760" cy="2148840"/>
          </a:xfrm>
          <a:prstGeom prst="roundRect">
            <a:avLst>
              <a:gd name="adj" fmla="val 5000"/>
            </a:avLst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05000" y="1938528"/>
            <a:ext cx="13624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7200"/>
                </a:solidFill>
                <a:latin typeface="Arial"/>
              </a:rPr>
              <a:t>Wks 1–2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05000" y="2212848"/>
            <a:ext cx="136245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C2577"/>
                </a:solidFill>
                <a:latin typeface="Arial"/>
              </a:rPr>
              <a:t>Design golden set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05000" y="2788920"/>
            <a:ext cx="136245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A5A5A"/>
                </a:solidFill>
                <a:latin typeface="Arial"/>
              </a:rPr>
              <a:t>50–150 Qs across
taxonomy &amp; edge cases</a:t>
            </a:r>
          </a:p>
        </p:txBody>
      </p:sp>
      <p:sp>
        <p:nvSpPr>
          <p:cNvPr id="19" name="Oval 18"/>
          <p:cNvSpPr/>
          <p:nvPr/>
        </p:nvSpPr>
        <p:spPr>
          <a:xfrm>
            <a:off x="4221480" y="1298448"/>
            <a:ext cx="256032" cy="256032"/>
          </a:xfrm>
          <a:prstGeom prst="ellipse">
            <a:avLst/>
          </a:prstGeom>
          <a:solidFill>
            <a:srgbClr val="0C2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31208" y="1554480"/>
            <a:ext cx="31750" cy="228600"/>
          </a:xfrm>
          <a:prstGeom prst="rect">
            <a:avLst/>
          </a:prstGeom>
          <a:solidFill>
            <a:srgbClr val="0C2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599688" y="1828800"/>
            <a:ext cx="1508760" cy="214884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2840" y="1938528"/>
            <a:ext cx="13624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C2577"/>
                </a:solidFill>
                <a:latin typeface="Arial"/>
              </a:rPr>
              <a:t>Wks 2–4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72840" y="2212848"/>
            <a:ext cx="136245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C2577"/>
                </a:solidFill>
                <a:latin typeface="Arial"/>
              </a:rPr>
              <a:t>Truth answers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72840" y="2788920"/>
            <a:ext cx="136245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A5A5A"/>
                </a:solidFill>
                <a:latin typeface="Arial"/>
              </a:rPr>
              <a:t>SME / steward writes
expected answers + cites</a:t>
            </a:r>
          </a:p>
        </p:txBody>
      </p:sp>
      <p:sp>
        <p:nvSpPr>
          <p:cNvPr id="25" name="Oval 24"/>
          <p:cNvSpPr/>
          <p:nvPr/>
        </p:nvSpPr>
        <p:spPr>
          <a:xfrm>
            <a:off x="5989320" y="1298448"/>
            <a:ext cx="256032" cy="256032"/>
          </a:xfrm>
          <a:prstGeom prst="ellipse">
            <a:avLst/>
          </a:prstGeom>
          <a:solidFill>
            <a:srgbClr val="0C2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99048" y="1554480"/>
            <a:ext cx="31750" cy="228600"/>
          </a:xfrm>
          <a:prstGeom prst="rect">
            <a:avLst/>
          </a:prstGeom>
          <a:solidFill>
            <a:srgbClr val="0C2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367528" y="1828800"/>
            <a:ext cx="1508760" cy="214884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40680" y="1938528"/>
            <a:ext cx="13624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C2577"/>
                </a:solidFill>
                <a:latin typeface="Arial"/>
              </a:rPr>
              <a:t>Wks 4–5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40680" y="2212848"/>
            <a:ext cx="136245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C2577"/>
                </a:solidFill>
                <a:latin typeface="Arial"/>
              </a:rPr>
              <a:t>Blind run &amp; score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40680" y="2788920"/>
            <a:ext cx="136245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A5A5A"/>
                </a:solidFill>
                <a:latin typeface="Arial"/>
              </a:rPr>
              <a:t>Ask Docs answers;
scorecard vs truth</a:t>
            </a:r>
          </a:p>
        </p:txBody>
      </p:sp>
      <p:sp>
        <p:nvSpPr>
          <p:cNvPr id="31" name="Oval 30"/>
          <p:cNvSpPr/>
          <p:nvPr/>
        </p:nvSpPr>
        <p:spPr>
          <a:xfrm>
            <a:off x="7757160" y="1298448"/>
            <a:ext cx="256032" cy="256032"/>
          </a:xfrm>
          <a:prstGeom prst="ellipse">
            <a:avLst/>
          </a:prstGeom>
          <a:solidFill>
            <a:srgbClr val="0C2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866888" y="1554480"/>
            <a:ext cx="31750" cy="228600"/>
          </a:xfrm>
          <a:prstGeom prst="rect">
            <a:avLst/>
          </a:prstGeom>
          <a:solidFill>
            <a:srgbClr val="0C2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135368" y="1828800"/>
            <a:ext cx="1508760" cy="214884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08520" y="1938528"/>
            <a:ext cx="13624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C2577"/>
                </a:solidFill>
                <a:latin typeface="Arial"/>
              </a:rPr>
              <a:t>Wks 5–8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08520" y="2212848"/>
            <a:ext cx="136245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C2577"/>
                </a:solidFill>
                <a:latin typeface="Arial"/>
              </a:rPr>
              <a:t>Tune &amp; retest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08520" y="2788920"/>
            <a:ext cx="136245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A5A5A"/>
                </a:solidFill>
                <a:latin typeface="Arial"/>
              </a:rPr>
              <a:t>Fix retrieval / metadata;
re-run to threshold</a:t>
            </a:r>
          </a:p>
        </p:txBody>
      </p:sp>
      <p:sp>
        <p:nvSpPr>
          <p:cNvPr id="37" name="Oval 36"/>
          <p:cNvSpPr/>
          <p:nvPr/>
        </p:nvSpPr>
        <p:spPr>
          <a:xfrm>
            <a:off x="9525000" y="1298448"/>
            <a:ext cx="256032" cy="256032"/>
          </a:xfrm>
          <a:prstGeom prst="ellipse">
            <a:avLst/>
          </a:prstGeom>
          <a:solidFill>
            <a:srgbClr val="0C2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634727" y="1554480"/>
            <a:ext cx="31750" cy="228600"/>
          </a:xfrm>
          <a:prstGeom prst="rect">
            <a:avLst/>
          </a:prstGeom>
          <a:solidFill>
            <a:srgbClr val="0C2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903208" y="1828800"/>
            <a:ext cx="1508760" cy="214884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76360" y="1938528"/>
            <a:ext cx="13624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C2577"/>
                </a:solidFill>
                <a:latin typeface="Arial"/>
              </a:rPr>
              <a:t>Wk 8–9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76360" y="2212848"/>
            <a:ext cx="136245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C2577"/>
                </a:solidFill>
                <a:latin typeface="Arial"/>
              </a:rPr>
              <a:t>Gate go-live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76360" y="2788920"/>
            <a:ext cx="136245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A5A5A"/>
                </a:solidFill>
                <a:latin typeface="Arial"/>
              </a:rPr>
              <a:t>Policy + support +
quality bar signed</a:t>
            </a:r>
          </a:p>
        </p:txBody>
      </p:sp>
      <p:sp>
        <p:nvSpPr>
          <p:cNvPr id="43" name="Oval 42"/>
          <p:cNvSpPr/>
          <p:nvPr/>
        </p:nvSpPr>
        <p:spPr>
          <a:xfrm>
            <a:off x="11292840" y="1298448"/>
            <a:ext cx="256032" cy="256032"/>
          </a:xfrm>
          <a:prstGeom prst="ellipse">
            <a:avLst/>
          </a:prstGeom>
          <a:solidFill>
            <a:srgbClr val="6EB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1402567" y="1554480"/>
            <a:ext cx="31750" cy="228600"/>
          </a:xfrm>
          <a:prstGeom prst="rect">
            <a:avLst/>
          </a:prstGeom>
          <a:solidFill>
            <a:srgbClr val="6EBB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10671048" y="1828800"/>
            <a:ext cx="1508760" cy="214884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744200" y="1938528"/>
            <a:ext cx="13624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6EBB1F"/>
                </a:solidFill>
                <a:latin typeface="Arial"/>
              </a:rPr>
              <a:t>Ongoing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44200" y="2212848"/>
            <a:ext cx="136245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C2577"/>
                </a:solidFill>
                <a:latin typeface="Arial"/>
              </a:rPr>
              <a:t>Regression ops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744200" y="2788920"/>
            <a:ext cx="136245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A5A5A"/>
                </a:solidFill>
                <a:latin typeface="Arial"/>
              </a:rPr>
              <a:t>Re-test on sync /
model change; steward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4160520"/>
            <a:ext cx="11247120" cy="9144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" y="42519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7200"/>
                </a:solidFill>
                <a:latin typeface="Arial"/>
              </a:rPr>
              <a:t>YOU ARE HERE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" y="457200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rial"/>
              </a:rPr>
              <a:t>Upload complete. Next critical path = design golden questions + truth answers with SME panel, then score Ask Docs before any broad access.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53035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Arial"/>
              </a:rPr>
              <a:t>Parallel track (not on this timeline): MCP + API vendor enablement and security review can proceed immediately to serve agent demand — domain go-live is not a blocker.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Arial"/>
              </a:rPr>
              <a:t>AT&amp;T Marketing | Insightful AI Access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7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C2577"/>
                </a:solidFill>
                <a:latin typeface="Arial"/>
              </a:rPr>
              <a:t>Strategic investment: what the knowledge domain needs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2788920" cy="237744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C2577"/>
                </a:solidFill>
                <a:latin typeface="Arial"/>
              </a:rPr>
              <a:t>Golden Q&amp;A pack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83080"/>
            <a:ext cx="2514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Arial"/>
              </a:rPr>
              <a:t>Question bank + truth answers owned by insights SMEs; versioned like a product artifact.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005840"/>
            <a:ext cx="2788920" cy="237744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118872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C2577"/>
                </a:solidFill>
                <a:latin typeface="Arial"/>
              </a:rPr>
              <a:t>Governance &amp; access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1783080"/>
            <a:ext cx="2514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Arial"/>
              </a:rPr>
              <a:t>Who may query, who may publish, DLP/classification, audit of Ask AT&amp;T usage.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005840"/>
            <a:ext cx="2788920" cy="237744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18872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C2577"/>
                </a:solidFill>
                <a:latin typeface="Arial"/>
              </a:rPr>
              <a:t>Knowledge steward role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783080"/>
            <a:ext cx="2514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Arial"/>
              </a:rPr>
              <a:t>Named owner for corpus health, sync exceptions, answer quality, and escalation.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1005840"/>
            <a:ext cx="2788920" cy="237744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72600" y="118872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C2577"/>
                </a:solidFill>
                <a:latin typeface="Arial"/>
              </a:rPr>
              <a:t>Sync &amp; freshness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600" y="1783080"/>
            <a:ext cx="2514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Arial"/>
              </a:rPr>
              <a:t>Cadence from Insightful → domain copy; metadata parity; stale-content playbook.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611880"/>
            <a:ext cx="2788920" cy="237744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79476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C2577"/>
                </a:solidFill>
                <a:latin typeface="Arial"/>
              </a:rPr>
              <a:t>Testing &amp; release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389120"/>
            <a:ext cx="2514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Arial"/>
              </a:rPr>
              <a:t>Pre-release golden-set scorecard; change management when models or chunking change.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83280" y="3611880"/>
            <a:ext cx="2788920" cy="237744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0440" y="379476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C2577"/>
                </a:solidFill>
                <a:latin typeface="Arial"/>
              </a:rPr>
              <a:t>Ongoing support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4389120"/>
            <a:ext cx="2514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Arial"/>
              </a:rPr>
              <a:t>Tier-1 user help, steward office hours, feedback loop into collections and tagging.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611880"/>
            <a:ext cx="2788920" cy="237744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379476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C2577"/>
                </a:solidFill>
                <a:latin typeface="Arial"/>
              </a:rPr>
              <a:t>Success metrics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4389120"/>
            <a:ext cx="2514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Arial"/>
              </a:rPr>
              <a:t>Answer quality %, citation hit rate, time-to-insight, deflection from workarounds.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35440" y="3611880"/>
            <a:ext cx="2788920" cy="237744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72600" y="379476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C2577"/>
                </a:solidFill>
                <a:latin typeface="Arial"/>
              </a:rPr>
              <a:t>Risk controls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72600" y="4389120"/>
            <a:ext cx="2514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Arial"/>
              </a:rPr>
              <a:t>Wrong-answer escalation, “I don’t know” policy, sensitive-topic handling.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Arial"/>
              </a:rPr>
              <a:t>AT&amp;T Marketing | Insightful AI Access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7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C2577"/>
                </a:solidFill>
                <a:latin typeface="Arial"/>
              </a:rPr>
              <a:t>Human impact — roles, hours, 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Arial"/>
              </a:rPr>
              <a:t>Indicative planning ranges for CMO discussion (calibrate with HR / insights capacity).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67AB4"/>
                </a:solidFill>
                <a:latin typeface="Arial"/>
              </a:rPr>
              <a:t>Role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12344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67AB4"/>
                </a:solidFill>
                <a:latin typeface="Arial"/>
              </a:rPr>
              <a:t>Mode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2344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67AB4"/>
                </a:solidFill>
                <a:latin typeface="Arial"/>
              </a:rPr>
              <a:t>Effort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23444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67AB4"/>
                </a:solidFill>
                <a:latin typeface="Arial"/>
              </a:rPr>
              <a:t>Responsibility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11247120" cy="7772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4592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Arial"/>
              </a:rPr>
              <a:t>Knowledge Steward (lead)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164592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Arial"/>
              </a:rPr>
              <a:t>Standing role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16459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Arial"/>
              </a:rPr>
              <a:t>0.4–0.6 FTE ongoing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164592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Arial"/>
              </a:rPr>
              <a:t>Corpus quality, golden set, access requests, sync exceptions, SME coordination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4688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Arial"/>
              </a:rPr>
              <a:t>Insights SMEs (panel)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246888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Arial"/>
              </a:rPr>
              <a:t>Rotating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24688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Arial"/>
              </a:rPr>
              <a:t>~40–80 hrs stand-up; 4–8 hrs/mo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246888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Arial"/>
              </a:rPr>
              <a:t>Truth answers, taxonomy edge cases, approve go-live scorecard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200400"/>
            <a:ext cx="11247120" cy="7772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29184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Arial"/>
              </a:rPr>
              <a:t>KM / platform ops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29184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Arial"/>
              </a:rPr>
              <a:t>Shared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32918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Arial"/>
              </a:rPr>
              <a:t>~20–40 hrs stand-up; 2–4 hrs/wk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329184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Arial"/>
              </a:rPr>
              <a:t>Sync jobs, metadata, Ask AT&amp;T config, release testing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1148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Arial"/>
              </a:rPr>
              <a:t>Security / compliance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8960" y="411480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Arial"/>
              </a:rPr>
              <a:t>Checkpoint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41148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Arial"/>
              </a:rPr>
              <a:t>~15–25 hrs initial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411480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Arial"/>
              </a:rPr>
              <a:t>Access model, audit, data-class controls, exception review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846320"/>
            <a:ext cx="11247120" cy="7772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9377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Arial"/>
              </a:rPr>
              <a:t>MCP / API program owner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493776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Arial"/>
              </a:rPr>
              <a:t>Standing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49377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Arial"/>
              </a:rPr>
              <a:t>0.25–0.4 FTE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493776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Arial"/>
              </a:rPr>
              <a:t>Vendor enablement, client onboarding, guardrails, usage reporting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Arial"/>
              </a:rPr>
              <a:t>AT&amp;T Marketing | Insightful AI Access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7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C2577"/>
                </a:solidFill>
                <a:latin typeface="Arial"/>
              </a:rPr>
              <a:t>Knowledge Steward — proposed accountability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051560"/>
            <a:ext cx="411480" cy="411480"/>
          </a:xfrm>
          <a:prstGeom prst="ellipse">
            <a:avLst/>
          </a:prstGeom>
          <a:solidFill>
            <a:srgbClr val="067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0972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097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Own the golden-question bank and truth-answer currency with SME panel.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1828800"/>
            <a:ext cx="411480" cy="411480"/>
          </a:xfrm>
          <a:prstGeom prst="ellipse">
            <a:avLst/>
          </a:prstGeom>
          <a:solidFill>
            <a:srgbClr val="067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87452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874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Approve / deny domain access requests against CMO-endorsed policy.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2606039"/>
            <a:ext cx="411480" cy="411480"/>
          </a:xfrm>
          <a:prstGeom prst="ellipse">
            <a:avLst/>
          </a:prstGeom>
          <a:solidFill>
            <a:srgbClr val="067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651759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651759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Monitor answer quality metrics and escalate wrong-answer incidents.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3383279"/>
            <a:ext cx="411480" cy="411480"/>
          </a:xfrm>
          <a:prstGeom prst="ellipse">
            <a:avLst/>
          </a:prstGeom>
          <a:solidFill>
            <a:srgbClr val="067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3428999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428999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Coordinate Insightful → Ask Docs sync issues and metadata gaps.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160520"/>
            <a:ext cx="411480" cy="411480"/>
          </a:xfrm>
          <a:prstGeom prst="ellipse">
            <a:avLst/>
          </a:prstGeom>
          <a:solidFill>
            <a:srgbClr val="067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420624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206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Partner with MCP/API owner so agent experiences cite the same sources of truth.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4937760"/>
            <a:ext cx="411480" cy="411480"/>
          </a:xfrm>
          <a:prstGeom prst="ellipse">
            <a:avLst/>
          </a:prstGeom>
          <a:solidFill>
            <a:srgbClr val="067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49834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983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rial"/>
              </a:rPr>
              <a:t>Report quarterly to CMO: quality, usage, risks, and capacity needs.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Arial"/>
              </a:rPr>
              <a:t>AT&amp;T Marketing | Insightful AI Access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7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C2577"/>
                </a:solidFill>
                <a:latin typeface="Arial"/>
              </a:rPr>
              <a:t>Decision requested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05840"/>
            <a:ext cx="5486400" cy="214884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80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7200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32588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C2577"/>
                </a:solidFill>
                <a:latin typeface="Arial"/>
              </a:rPr>
              <a:t>Approve MCP + API path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5A5A"/>
                </a:solidFill>
                <a:latin typeface="Arial"/>
              </a:rPr>
              <a:t>Authorize commercial/security engagement to enable Insightful MCP and API for sanctioned AI projects.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59" y="1005840"/>
            <a:ext cx="5486400" cy="214884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79" y="1280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7200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19" y="132588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C2577"/>
                </a:solidFill>
                <a:latin typeface="Arial"/>
              </a:rPr>
              <a:t>Name program owners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79" y="192024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5A5A"/>
                </a:solidFill>
                <a:latin typeface="Arial"/>
              </a:rPr>
              <a:t>Assign MCP/API owner and interim Knowledge Steward; confirm SME panel.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383280"/>
            <a:ext cx="5486400" cy="214884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6576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7200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70332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C2577"/>
                </a:solidFill>
                <a:latin typeface="Arial"/>
              </a:rPr>
              <a:t>Fund domain as side goal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29768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5A5A"/>
                </a:solidFill>
                <a:latin typeface="Arial"/>
              </a:rPr>
              <a:t>Endorse golden-question stand-up and steward operating model — without blocking agent demand on domain go-live.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59" y="3383280"/>
            <a:ext cx="5486400" cy="214884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79" y="36576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7200"/>
                </a:solidFill>
                <a:latin typeface="Arial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19" y="370332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C2577"/>
                </a:solidFill>
                <a:latin typeface="Arial"/>
              </a:rPr>
              <a:t>Set access policy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79" y="429768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5A5A"/>
                </a:solidFill>
                <a:latin typeface="Arial"/>
              </a:rPr>
              <a:t>CMO-backed rules: who gets MCP/API credentials; who gets Ask AT&amp;T domain access; anti-workaround stance.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Arial"/>
              </a:rPr>
              <a:t>AT&amp;T Marketing | Insightful AI Access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67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rial"/>
              </a:rPr>
              <a:t>Serve demand with MCP + API.
Build the domain with discipline.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747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CC9D6"/>
                </a:solidFill>
                <a:latin typeface="Arial"/>
              </a:rPr>
              <a:t>That keeps Insightful’s proprietary advantage working for AT&amp;T’s AI ecosystem —
and keeps Ask AT&amp;T on a path that is governed, tested, and staffed to last.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CC9D6"/>
                </a:solidFill>
                <a:latin typeface="Arial"/>
              </a:rPr>
              <a:t>AT&amp;T Marketing  |  Insightful AI Access Recommendation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